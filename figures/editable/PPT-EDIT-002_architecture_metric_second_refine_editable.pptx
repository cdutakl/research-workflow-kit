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08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874850" y="844550"/>
            <a:ext cx="0" cy="5585460"/>
          </a:xfrm>
          <a:prstGeom prst="line">
            <a:avLst/>
          </a:prstGeom>
          <a:ln w="12700">
            <a:solidFill>
              <a:srgbClr val="9AA1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760430" y="780415"/>
            <a:ext cx="0" cy="5585460"/>
          </a:xfrm>
          <a:prstGeom prst="line">
            <a:avLst/>
          </a:prstGeom>
          <a:ln w="12700">
            <a:solidFill>
              <a:srgbClr val="9AA1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171898" y="548640"/>
            <a:ext cx="0" cy="5585460"/>
          </a:xfrm>
          <a:prstGeom prst="line">
            <a:avLst/>
          </a:prstGeom>
          <a:ln w="12700">
            <a:solidFill>
              <a:srgbClr val="9AA1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9168" y="120650"/>
            <a:ext cx="1239586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chemeClr val="tx2">
                    <a:lumMod val="75000"/>
                  </a:schemeClr>
                </a:solidFill>
                <a:latin typeface="Arial" panose="020B0604020202090204" pitchFamily="34" charset="0"/>
              </a:rPr>
              <a:t>输入特征</a:t>
            </a:r>
            <a:endParaRPr sz="2000" b="1">
              <a:solidFill>
                <a:schemeClr val="tx2">
                  <a:lumMod val="75000"/>
                </a:schemeClr>
              </a:solidFill>
              <a:latin typeface="Arial" panose="020B060402020209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82300" y="120650"/>
            <a:ext cx="1239586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>
                <a:solidFill>
                  <a:schemeClr val="tx2">
                    <a:lumMod val="75000"/>
                  </a:schemeClr>
                </a:solidFill>
                <a:latin typeface="Arial" panose="020B0604020202090204" pitchFamily="34" charset="0"/>
              </a:rPr>
              <a:t>表示学习</a:t>
            </a:r>
            <a:endParaRPr sz="2000" b="1">
              <a:solidFill>
                <a:schemeClr val="tx2">
                  <a:lumMod val="75000"/>
                </a:schemeClr>
              </a:solidFill>
              <a:latin typeface="Arial" panose="020B060402020209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21830" y="120968"/>
            <a:ext cx="1677035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>
                <a:solidFill>
                  <a:schemeClr val="tx2">
                    <a:lumMod val="75000"/>
                  </a:schemeClr>
                </a:solidFill>
                <a:latin typeface="Arial" panose="020B0604020202090204" pitchFamily="34" charset="0"/>
              </a:rPr>
              <a:t>预测与触发</a:t>
            </a:r>
            <a:endParaRPr sz="2000" b="1">
              <a:solidFill>
                <a:schemeClr val="tx2">
                  <a:lumMod val="75000"/>
                </a:schemeClr>
              </a:solidFill>
              <a:latin typeface="Arial" panose="020B060402020209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58358" y="120650"/>
            <a:ext cx="1239586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chemeClr val="tx2">
                    <a:lumMod val="75000"/>
                  </a:schemeClr>
                </a:solidFill>
                <a:latin typeface="Arial" panose="020B0604020202090204" pitchFamily="34" charset="0"/>
              </a:rPr>
              <a:t>输出结果</a:t>
            </a:r>
            <a:endParaRPr b="1">
              <a:solidFill>
                <a:srgbClr val="5F6670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4635" y="1096010"/>
            <a:ext cx="2078129" cy="11811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2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9499" y="1187450"/>
            <a:ext cx="196840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56B"/>
                </a:solidFill>
                <a:latin typeface="PingFang SC" panose="020B0400000000000000" charset="-122"/>
              </a:rPr>
              <a:t>历史负荷序列</a:t>
            </a:r>
            <a:endParaRPr sz="1700" b="1">
              <a:solidFill>
                <a:srgbClr val="00256B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7787" y="1553210"/>
            <a:ext cx="1931825" cy="6507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</a:rPr>
              <a:t>历史负荷</a:t>
            </a:r>
            <a:endParaRPr sz="1200" b="0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</a:rPr>
              <a:t>96 个历史步 × 55 个站点</a:t>
            </a:r>
            <a:endParaRPr sz="12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4635" y="2810510"/>
            <a:ext cx="2078129" cy="11811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2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9499" y="2901950"/>
            <a:ext cx="196840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56B"/>
                </a:solidFill>
                <a:latin typeface="PingFang SC" panose="020B0400000000000000" charset="-122"/>
              </a:rPr>
              <a:t>充电行为特征</a:t>
            </a:r>
            <a:endParaRPr sz="1700" b="1">
              <a:solidFill>
                <a:srgbClr val="00256B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4805" y="3378200"/>
            <a:ext cx="2078355" cy="4298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 panose="020B0400000000000000" charset="-122"/>
              </a:rPr>
              <a:t>接入 / 离站 / 占用 / 活跃状态</a:t>
            </a:r>
            <a:endParaRPr sz="1100" b="0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 panose="020B0400000000000000" charset="-122"/>
              </a:rPr>
              <a:t>行为节律与负荷变化</a:t>
            </a:r>
            <a:endParaRPr sz="11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4635" y="4525010"/>
            <a:ext cx="2078129" cy="11811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94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9499" y="4586542"/>
            <a:ext cx="1968401" cy="3524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4300"/>
                </a:solidFill>
                <a:latin typeface="PingFang SC" panose="020B0400000000000000" charset="-122"/>
              </a:rPr>
              <a:t>事件可用特征</a:t>
            </a:r>
            <a:endParaRPr sz="1700" b="1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7787" y="4982210"/>
            <a:ext cx="1931825" cy="6507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</a:rPr>
              <a:t>事件近期性 / 事件类型</a:t>
            </a:r>
            <a:endParaRPr sz="1200" b="0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</a:rPr>
              <a:t>预测时刻可见状态</a:t>
            </a:r>
            <a:endParaRPr sz="12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23126" y="1132840"/>
            <a:ext cx="1677087" cy="11049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2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7990" y="1224280"/>
            <a:ext cx="156735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56B"/>
                </a:solidFill>
                <a:latin typeface="PingFang SC" panose="020B0400000000000000" charset="-122"/>
              </a:rPr>
              <a:t>时间特征编码</a:t>
            </a:r>
            <a:endParaRPr sz="1700" b="1">
              <a:solidFill>
                <a:srgbClr val="00256B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96278" y="1590040"/>
            <a:ext cx="1530783" cy="574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</a:rPr>
              <a:t>时间卷积编码</a:t>
            </a:r>
            <a:endParaRPr sz="1200" b="0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</a:rPr>
              <a:t>门控时间卷积</a:t>
            </a:r>
            <a:endParaRPr sz="12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387725" y="4554855"/>
            <a:ext cx="1711960" cy="1104265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94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7820" y="4669790"/>
            <a:ext cx="167673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4300"/>
                </a:solidFill>
                <a:latin typeface="PingFang SC" panose="020B0400000000000000" charset="-122"/>
              </a:rPr>
              <a:t>图结构编码</a:t>
            </a:r>
            <a:endParaRPr sz="1700" b="1">
              <a:solidFill>
                <a:srgbClr val="D94300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04838" y="4902835"/>
            <a:ext cx="1640158" cy="765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</a:rPr>
              <a:t>事件邻接图</a:t>
            </a:r>
            <a:endParaRPr sz="1200" b="0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</a:rPr>
              <a:t>历史相关图</a:t>
            </a:r>
            <a:endParaRPr sz="1200" b="0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</a:rPr>
              <a:t>动态时间规整图</a:t>
            </a:r>
            <a:endParaRPr sz="12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335110" y="2940050"/>
            <a:ext cx="182292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4579" y="3053080"/>
            <a:ext cx="17131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PingFang SC" panose="020B0400000000000000" charset="-122"/>
              </a:rPr>
              <a:t>融合状态表示</a:t>
            </a:r>
            <a:endParaRPr sz="1700" b="1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98825" y="3451543"/>
            <a:ext cx="1894840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</a:rPr>
              <a:t>时间状态 + 图结构状态</a:t>
            </a:r>
            <a:endParaRPr sz="12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366577" y="972820"/>
            <a:ext cx="1895837" cy="11049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02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1441" y="1064260"/>
            <a:ext cx="178610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256B"/>
                </a:solidFill>
                <a:latin typeface="PingFang SC" panose="020B0400000000000000" charset="-122"/>
              </a:rPr>
              <a:t>行为基线预测分支</a:t>
            </a:r>
            <a:endParaRPr sz="1500" b="1">
              <a:solidFill>
                <a:srgbClr val="00256B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39729" y="1430020"/>
            <a:ext cx="1749533" cy="574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 panose="020B0400000000000000" charset="-122"/>
              </a:rPr>
              <a:t>稳定状态默认预测路径</a:t>
            </a:r>
            <a:endParaRPr sz="1100" b="0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 panose="020B0400000000000000" charset="-122"/>
              </a:rPr>
              <a:t>输出 ŷ_b</a:t>
            </a:r>
            <a:endParaRPr sz="11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366577" y="4578350"/>
            <a:ext cx="2041671" cy="1295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94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1441" y="4669790"/>
            <a:ext cx="193194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4300"/>
                </a:solidFill>
                <a:latin typeface="PingFang SC" panose="020B0400000000000000" charset="-122"/>
              </a:rPr>
              <a:t>图结构事件预测分支</a:t>
            </a:r>
            <a:endParaRPr sz="1500" b="1">
              <a:solidFill>
                <a:srgbClr val="D94300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39729" y="5035550"/>
            <a:ext cx="1895367" cy="765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 panose="020B0400000000000000" charset="-122"/>
              </a:rPr>
              <a:t>融合时间状态、事件状态</a:t>
            </a:r>
            <a:endParaRPr sz="1100" b="0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 panose="020B0400000000000000" charset="-122"/>
              </a:rPr>
              <a:t>与图结构信息</a:t>
            </a:r>
            <a:endParaRPr sz="1100" b="0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 panose="020B0400000000000000" charset="-122"/>
              </a:rPr>
              <a:t>输出 ŷ_g</a:t>
            </a:r>
            <a:endParaRPr sz="11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152654" y="2651760"/>
            <a:ext cx="1786462" cy="1333500"/>
          </a:xfrm>
          <a:prstGeom prst="roundRect">
            <a:avLst/>
          </a:prstGeom>
          <a:solidFill>
            <a:srgbClr val="FFFFFF"/>
          </a:solidFill>
          <a:ln w="2032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770" y="2728595"/>
            <a:ext cx="1967865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PingFang SC" panose="020B0400000000000000" charset="-122"/>
              </a:rPr>
              <a:t>保守事件触发判断</a:t>
            </a:r>
            <a:endParaRPr sz="1500" b="1">
              <a:solidFill>
                <a:schemeClr val="tx1"/>
              </a:solidFill>
              <a:latin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29625" y="3109595"/>
            <a:ext cx="1240155" cy="7645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 panose="020B0400000000000000" charset="-122"/>
              </a:rPr>
              <a:t>仅使用预测时刻可见信息</a:t>
            </a:r>
            <a:endParaRPr sz="1100" b="0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 panose="020B0400000000000000" charset="-122"/>
              </a:rPr>
              <a:t>选择基线预测或事件修正</a:t>
            </a:r>
            <a:endParaRPr sz="11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0500024" y="2733675"/>
            <a:ext cx="1421878" cy="11811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C5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99725" y="2810510"/>
            <a:ext cx="1466215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5A20"/>
                </a:solidFill>
                <a:latin typeface="PingFang SC" panose="020B0400000000000000" charset="-122"/>
              </a:rPr>
              <a:t>最终预测输出</a:t>
            </a:r>
            <a:endParaRPr sz="1500" b="1">
              <a:solidFill>
                <a:srgbClr val="0C5A20"/>
              </a:solidFill>
              <a:latin typeface="PingFang SC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73176" y="3190875"/>
            <a:ext cx="1275574" cy="6507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PingFang SC" panose="020B0400000000000000" charset="-122"/>
              </a:rPr>
              <a:t>稳定状态：ŷ = ŷ_b</a:t>
            </a:r>
            <a:endParaRPr sz="1000" b="0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PingFang SC" panose="020B0400000000000000" charset="-122"/>
              </a:rPr>
              <a:t>触发状态：ŷ = ŷ_g</a:t>
            </a:r>
            <a:endParaRPr sz="10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2760524" y="1682750"/>
            <a:ext cx="0" cy="53340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22765" y="3397250"/>
            <a:ext cx="337820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760524" y="2216150"/>
            <a:ext cx="0" cy="118110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24" idx="3"/>
          </p:cNvCxnSpPr>
          <p:nvPr/>
        </p:nvCxnSpPr>
        <p:spPr>
          <a:xfrm>
            <a:off x="5158031" y="3397250"/>
            <a:ext cx="748030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906263" y="1529080"/>
            <a:ext cx="0" cy="172974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906263" y="3258820"/>
            <a:ext cx="0" cy="196723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262415" y="1529080"/>
            <a:ext cx="787400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422219" y="5227320"/>
            <a:ext cx="62801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9" idx="3"/>
            <a:endCxn id="18" idx="1"/>
          </p:cNvCxnSpPr>
          <p:nvPr/>
        </p:nvCxnSpPr>
        <p:spPr>
          <a:xfrm flipV="1">
            <a:off x="2423160" y="1685290"/>
            <a:ext cx="1000125" cy="1270"/>
          </a:xfrm>
          <a:prstGeom prst="straightConnector1">
            <a:avLst/>
          </a:prstGeom>
          <a:ln w="1778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18" idx="2"/>
          </p:cNvCxnSpPr>
          <p:nvPr/>
        </p:nvCxnSpPr>
        <p:spPr>
          <a:xfrm>
            <a:off x="4261485" y="2237740"/>
            <a:ext cx="1270" cy="690245"/>
          </a:xfrm>
          <a:prstGeom prst="straightConnector1">
            <a:avLst/>
          </a:prstGeom>
          <a:ln w="1778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15" idx="3"/>
            <a:endCxn id="21" idx="1"/>
          </p:cNvCxnSpPr>
          <p:nvPr/>
        </p:nvCxnSpPr>
        <p:spPr>
          <a:xfrm flipV="1">
            <a:off x="2423160" y="5107305"/>
            <a:ext cx="964565" cy="8255"/>
          </a:xfrm>
          <a:prstGeom prst="straightConnector1">
            <a:avLst/>
          </a:prstGeom>
          <a:ln w="1778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21" idx="0"/>
            <a:endCxn id="24" idx="2"/>
          </p:cNvCxnSpPr>
          <p:nvPr/>
        </p:nvCxnSpPr>
        <p:spPr>
          <a:xfrm flipV="1">
            <a:off x="4243705" y="3854450"/>
            <a:ext cx="3175" cy="700405"/>
          </a:xfrm>
          <a:prstGeom prst="straightConnector1">
            <a:avLst/>
          </a:prstGeom>
          <a:ln w="1778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V="1">
            <a:off x="9050020" y="3991610"/>
            <a:ext cx="0" cy="1235710"/>
          </a:xfrm>
          <a:prstGeom prst="straightConnector1">
            <a:avLst/>
          </a:prstGeom>
          <a:ln w="1778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9050020" y="1529080"/>
            <a:ext cx="0" cy="1122680"/>
          </a:xfrm>
          <a:prstGeom prst="straightConnector1">
            <a:avLst/>
          </a:prstGeom>
          <a:ln w="1778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5907088" y="5227003"/>
            <a:ext cx="459740" cy="0"/>
          </a:xfrm>
          <a:prstGeom prst="straightConnector1">
            <a:avLst/>
          </a:prstGeom>
          <a:ln w="1778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5905818" y="1528763"/>
            <a:ext cx="460375" cy="0"/>
          </a:xfrm>
          <a:prstGeom prst="straightConnector1">
            <a:avLst/>
          </a:prstGeom>
          <a:ln w="1778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9938703" y="3345498"/>
            <a:ext cx="560705" cy="0"/>
          </a:xfrm>
          <a:prstGeom prst="straightConnector1">
            <a:avLst/>
          </a:prstGeom>
          <a:ln w="1778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347980" y="1398905"/>
            <a:ext cx="2148840" cy="438912"/>
          </a:xfrm>
          <a:prstGeom prst="roundRect">
            <a:avLst/>
          </a:prstGeom>
          <a:solidFill>
            <a:srgbClr val="001F5B"/>
          </a:solidFill>
          <a:ln w="1651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980" y="1398905"/>
            <a:ext cx="2148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评价维度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47112" y="1398905"/>
            <a:ext cx="3154680" cy="438912"/>
          </a:xfrm>
          <a:prstGeom prst="roundRect">
            <a:avLst/>
          </a:prstGeom>
          <a:solidFill>
            <a:srgbClr val="001F5B"/>
          </a:solidFill>
          <a:ln w="1651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7112" y="1398905"/>
            <a:ext cx="3154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具体指标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52084" y="1398905"/>
            <a:ext cx="2697480" cy="438912"/>
          </a:xfrm>
          <a:prstGeom prst="roundRect">
            <a:avLst/>
          </a:prstGeom>
          <a:solidFill>
            <a:srgbClr val="001F5B"/>
          </a:solidFill>
          <a:ln w="1651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52084" y="1398905"/>
            <a:ext cx="26974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评价对象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99856" y="1398905"/>
            <a:ext cx="3246120" cy="438912"/>
          </a:xfrm>
          <a:prstGeom prst="roundRect">
            <a:avLst/>
          </a:prstGeom>
          <a:solidFill>
            <a:srgbClr val="001F5B"/>
          </a:solidFill>
          <a:ln w="1651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99856" y="1398905"/>
            <a:ext cx="3246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</a:rPr>
              <a:t>作用说明</a:t>
            </a:r>
            <a:endParaRPr sz="1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7980" y="1910968"/>
            <a:ext cx="2148840" cy="6858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980" y="2069718"/>
            <a:ext cx="214884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256B"/>
                </a:solidFill>
                <a:latin typeface="PingFang SC" panose="020B0400000000000000" charset="-122"/>
              </a:rPr>
              <a:t>点预测精度</a:t>
            </a:r>
            <a:endParaRPr b="1">
              <a:solidFill>
                <a:srgbClr val="00256B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547112" y="1910968"/>
            <a:ext cx="3154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3688" y="2085276"/>
            <a:ext cx="308152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 panose="020B0400000000000000" charset="-122"/>
              </a:rPr>
              <a:t>MAE / RMSE / WAPE</a:t>
            </a:r>
            <a:endParaRPr sz="1600" b="1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52084" y="1910968"/>
            <a:ext cx="2697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88660" y="2085276"/>
            <a:ext cx="262432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 panose="020B0400000000000000" charset="-122"/>
              </a:rPr>
              <a:t>整体预测结果</a:t>
            </a:r>
            <a:endParaRPr sz="16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99856" y="1910968"/>
            <a:ext cx="3246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6432" y="2085276"/>
            <a:ext cx="317296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 panose="020B0400000000000000" charset="-122"/>
              </a:rPr>
              <a:t>衡量总体误差水平</a:t>
            </a:r>
            <a:endParaRPr sz="16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47980" y="2660777"/>
            <a:ext cx="2148840" cy="6858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980" y="2819527"/>
            <a:ext cx="214884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256B"/>
                </a:solidFill>
                <a:latin typeface="PingFang SC" panose="020B0400000000000000" charset="-122"/>
              </a:rPr>
              <a:t>分窗口误差</a:t>
            </a:r>
            <a:endParaRPr b="1">
              <a:solidFill>
                <a:srgbClr val="00256B"/>
              </a:solidFill>
              <a:latin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547112" y="2660777"/>
            <a:ext cx="3154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3688" y="2711895"/>
            <a:ext cx="3081528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 panose="020B0400000000000000" charset="-122"/>
              </a:rPr>
              <a:t>事件窗口 MAE</a:t>
            </a:r>
            <a:endParaRPr sz="1600" b="1">
              <a:solidFill>
                <a:srgbClr val="111111"/>
              </a:solidFill>
              <a:latin typeface="PingFang SC" panose="020B04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 panose="020B0400000000000000" charset="-122"/>
              </a:rPr>
              <a:t>稳定窗口 MAE</a:t>
            </a:r>
            <a:endParaRPr sz="1600" b="1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52084" y="2660777"/>
            <a:ext cx="2697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88660" y="2835085"/>
            <a:ext cx="262432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 panose="020B0400000000000000" charset="-122"/>
              </a:rPr>
              <a:t>事件窗口与稳定窗口</a:t>
            </a:r>
            <a:endParaRPr sz="16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499856" y="2660777"/>
            <a:ext cx="3246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6432" y="2835085"/>
            <a:ext cx="317296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 panose="020B0400000000000000" charset="-122"/>
              </a:rPr>
              <a:t>检验关键窗口修正收益</a:t>
            </a:r>
            <a:endParaRPr sz="16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47980" y="3410585"/>
            <a:ext cx="2148840" cy="6858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980" y="3569335"/>
            <a:ext cx="214884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256B"/>
                </a:solidFill>
                <a:latin typeface="PingFang SC" panose="020B0400000000000000" charset="-122"/>
              </a:rPr>
              <a:t>区间可靠性</a:t>
            </a:r>
            <a:endParaRPr b="1">
              <a:solidFill>
                <a:srgbClr val="00256B"/>
              </a:solidFill>
              <a:latin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547112" y="3410585"/>
            <a:ext cx="3154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83688" y="3584893"/>
            <a:ext cx="308152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 panose="020B0400000000000000" charset="-122"/>
              </a:rPr>
              <a:t>PICP / 区间宽度 / WIS</a:t>
            </a:r>
            <a:endParaRPr sz="1600" b="1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52084" y="3410585"/>
            <a:ext cx="2697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88660" y="3584893"/>
            <a:ext cx="262432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 panose="020B0400000000000000" charset="-122"/>
              </a:rPr>
              <a:t>预测区间</a:t>
            </a:r>
            <a:endParaRPr sz="16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499856" y="3410585"/>
            <a:ext cx="3246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6432" y="3584893"/>
            <a:ext cx="317296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 panose="020B0400000000000000" charset="-122"/>
              </a:rPr>
              <a:t>衡量覆盖率与不确定性质量</a:t>
            </a:r>
            <a:endParaRPr sz="16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47980" y="4160393"/>
            <a:ext cx="2148840" cy="6858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980" y="4319143"/>
            <a:ext cx="214884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256B"/>
                </a:solidFill>
                <a:latin typeface="PingFang SC" panose="020B0400000000000000" charset="-122"/>
              </a:rPr>
              <a:t>风险代理能力</a:t>
            </a:r>
            <a:endParaRPr b="1">
              <a:solidFill>
                <a:srgbClr val="00256B"/>
              </a:solidFill>
              <a:latin typeface="PingFang SC" panose="020B0400000000000000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547112" y="4160393"/>
            <a:ext cx="3154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83688" y="4211511"/>
            <a:ext cx="3081528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600" b="1">
                <a:solidFill>
                  <a:srgbClr val="111111"/>
                </a:solidFill>
                <a:latin typeface="PingFang SC" panose="020B0400000000000000" charset="-122"/>
              </a:rPr>
              <a:t>高负荷召回率</a:t>
            </a:r>
            <a:r>
              <a:rPr lang="en-US" sz="1600" b="1">
                <a:solidFill>
                  <a:srgbClr val="111111"/>
                </a:solidFill>
                <a:latin typeface="PingFang SC" panose="020B0400000000000000" charset="-122"/>
              </a:rPr>
              <a:t>/</a:t>
            </a:r>
            <a:r>
              <a:rPr sz="1600" b="1">
                <a:solidFill>
                  <a:srgbClr val="111111"/>
                </a:solidFill>
                <a:latin typeface="PingFang SC" panose="020B0400000000000000" charset="-122"/>
                <a:sym typeface="+mn-ea"/>
              </a:rPr>
              <a:t>严重度捕获率</a:t>
            </a:r>
            <a:r>
              <a:rPr lang="en-US" sz="1600" b="1">
                <a:solidFill>
                  <a:srgbClr val="111111"/>
                </a:solidFill>
                <a:latin typeface="PingFang SC" panose="020B0400000000000000" charset="-122"/>
                <a:sym typeface="+mn-ea"/>
              </a:rPr>
              <a:t>/</a:t>
            </a:r>
            <a:endParaRPr lang="en-US" sz="1600" b="1">
              <a:solidFill>
                <a:srgbClr val="111111"/>
              </a:solidFill>
              <a:latin typeface="PingFang SC" panose="020B0400000000000000" charset="-122"/>
              <a:sym typeface="+mn-ea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600" b="1">
                <a:solidFill>
                  <a:srgbClr val="111111"/>
                </a:solidFill>
                <a:latin typeface="PingFang SC" panose="020B0400000000000000" charset="-122"/>
                <a:sym typeface="+mn-ea"/>
              </a:rPr>
              <a:t>误报代价</a:t>
            </a:r>
            <a:endParaRPr sz="1600" b="1">
              <a:solidFill>
                <a:srgbClr val="111111"/>
              </a:solidFill>
              <a:latin typeface="仿宋" charset="0"/>
              <a:ea typeface="仿宋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752084" y="4160393"/>
            <a:ext cx="2697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88660" y="4334701"/>
            <a:ext cx="262432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 panose="020B0400000000000000" charset="-122"/>
              </a:rPr>
              <a:t>高风险样本</a:t>
            </a:r>
            <a:endParaRPr sz="16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499856" y="4160393"/>
            <a:ext cx="3246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36432" y="4334701"/>
            <a:ext cx="317296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 panose="020B0400000000000000" charset="-122"/>
              </a:rPr>
              <a:t>评估容量风险筛查能力</a:t>
            </a:r>
            <a:endParaRPr sz="16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47980" y="4910201"/>
            <a:ext cx="2148840" cy="6858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980" y="5068951"/>
            <a:ext cx="214884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256B"/>
                </a:solidFill>
                <a:latin typeface="PingFang SC" panose="020B0400000000000000" charset="-122"/>
              </a:rPr>
              <a:t>稳健性检验</a:t>
            </a:r>
            <a:endParaRPr b="1">
              <a:solidFill>
                <a:srgbClr val="00256B"/>
              </a:solidFill>
              <a:latin typeface="PingFang SC" panose="020B0400000000000000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2547112" y="4910201"/>
            <a:ext cx="3154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83688" y="5084508"/>
            <a:ext cx="308152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600" b="1">
                <a:solidFill>
                  <a:srgbClr val="111111"/>
                </a:solidFill>
                <a:latin typeface="PingFang SC" panose="020B0400000000000000" charset="-122"/>
              </a:rPr>
              <a:t>多随机种子 / 扰动 / 降级守门</a:t>
            </a:r>
            <a:endParaRPr sz="1600" b="1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752084" y="4910201"/>
            <a:ext cx="2697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88660" y="5084508"/>
            <a:ext cx="262432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 panose="020B0400000000000000" charset="-122"/>
              </a:rPr>
              <a:t>异常实验条件</a:t>
            </a:r>
            <a:endParaRPr sz="16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499856" y="4910201"/>
            <a:ext cx="32461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6432" y="5084508"/>
            <a:ext cx="3172968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 panose="020B0400000000000000" charset="-122"/>
              </a:rPr>
              <a:t>检验结论稳定性</a:t>
            </a:r>
            <a:endParaRPr sz="1600" b="0">
              <a:solidFill>
                <a:srgbClr val="111111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WPS 演示</Application>
  <PresentationFormat>On-screen Show (4:3)</PresentationFormat>
  <Paragraphs>109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Arial</vt:lpstr>
      <vt:lpstr>PingFang SC</vt:lpstr>
      <vt:lpstr>仿宋</vt:lpstr>
      <vt:lpstr>仿宋-简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时崎小三</cp:lastModifiedBy>
  <cp:revision>7</cp:revision>
  <dcterms:created xsi:type="dcterms:W3CDTF">2026-06-30T12:21:44Z</dcterms:created>
  <dcterms:modified xsi:type="dcterms:W3CDTF">2026-06-30T12:21:44Z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F25AF3799436F695F7A8436AA6A3DA86_42</vt:lpwstr>
  </property>
</Properties>
</file>