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Converted from editable SVG: /Users/xushuyuan/Downloads/合并总览图_终稿小修_可编辑.svg
Editable PowerPoint objects rebuilt from SVG primitives.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Converted from editable SVG: /Users/xushuyuan/Downloads/时间特征图结构事件触发预测机制图_终稿小修_可编辑.svg
Editable PowerPoint objects rebuilt from SVG primitives.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60" y="165100"/>
            <a:ext cx="11987530" cy="6588125"/>
          </a:xfrm>
          <a:prstGeom prst="rect">
            <a:avLst/>
          </a:prstGeom>
          <a:solidFill>
            <a:srgbClr val="FFFFFF"/>
          </a:solidFill>
          <a:ln w="762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230445" y="1063334"/>
            <a:ext cx="3132617" cy="2261245"/>
          </a:xfrm>
          <a:prstGeom prst="roundRect">
            <a:avLst/>
          </a:prstGeom>
          <a:solidFill>
            <a:srgbClr val="FFFFFF">
              <a:alpha val="0"/>
            </a:srgbClr>
          </a:solidFill>
          <a:ln w="4445">
            <a:solidFill>
              <a:srgbClr val="C8C8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0071" y="1236168"/>
            <a:ext cx="1814757" cy="849767"/>
          </a:xfrm>
          <a:prstGeom prst="roundRect">
            <a:avLst/>
          </a:prstGeom>
          <a:solidFill>
            <a:srgbClr val="EDF4FC"/>
          </a:solidFill>
          <a:ln w="4583">
            <a:solidFill>
              <a:srgbClr val="83A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0071" y="2215561"/>
            <a:ext cx="1814757" cy="849767"/>
          </a:xfrm>
          <a:prstGeom prst="roundRect">
            <a:avLst/>
          </a:prstGeom>
          <a:solidFill>
            <a:srgbClr val="F7F9FC"/>
          </a:solidFill>
          <a:ln w="4583">
            <a:solidFill>
              <a:srgbClr val="83AB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62065" y="1236168"/>
            <a:ext cx="864170" cy="1829160"/>
          </a:xfrm>
          <a:prstGeom prst="roundRect">
            <a:avLst/>
          </a:prstGeom>
          <a:solidFill>
            <a:srgbClr val="FFFFFF"/>
          </a:solidFill>
          <a:ln w="4583">
            <a:solidFill>
              <a:srgbClr val="6767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38275" y="1084520"/>
            <a:ext cx="1785952" cy="403279"/>
          </a:xfrm>
          <a:prstGeom prst="roundRect">
            <a:avLst/>
          </a:prstGeom>
          <a:solidFill>
            <a:srgbClr val="FFFFFF"/>
          </a:solidFill>
          <a:ln w="4583">
            <a:solidFill>
              <a:srgbClr val="67676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95967" y="1661052"/>
            <a:ext cx="2275648" cy="1051407"/>
          </a:xfrm>
          <a:prstGeom prst="diamond">
            <a:avLst/>
          </a:prstGeom>
          <a:solidFill>
            <a:srgbClr val="FFFFFF"/>
          </a:solidFill>
          <a:ln w="4746">
            <a:solidFill>
              <a:srgbClr val="44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71792" y="1236168"/>
            <a:ext cx="1656326" cy="662530"/>
          </a:xfrm>
          <a:prstGeom prst="roundRect">
            <a:avLst/>
          </a:prstGeom>
          <a:solidFill>
            <a:srgbClr val="EDF4FC"/>
          </a:solidFill>
          <a:ln w="4583">
            <a:solidFill>
              <a:srgbClr val="83AB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71792" y="2330784"/>
            <a:ext cx="1656326" cy="777753"/>
          </a:xfrm>
          <a:prstGeom prst="roundRect">
            <a:avLst/>
          </a:prstGeom>
          <a:solidFill>
            <a:srgbClr val="FBF1E8"/>
          </a:solidFill>
          <a:ln w="4583">
            <a:solidFill>
              <a:srgbClr val="E2A0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5800" y="1567434"/>
            <a:ext cx="1325061" cy="1253047"/>
          </a:xfrm>
          <a:prstGeom prst="roundRect">
            <a:avLst/>
          </a:prstGeom>
          <a:solidFill>
            <a:srgbClr val="FFFFFF"/>
          </a:solidFill>
          <a:ln w="4583">
            <a:solidFill>
              <a:srgbClr val="67676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7723" y="1653851"/>
            <a:ext cx="1094615" cy="950587"/>
          </a:xfrm>
          <a:prstGeom prst="roundRect">
            <a:avLst/>
          </a:prstGeom>
          <a:solidFill>
            <a:srgbClr val="FFFFFF"/>
          </a:solidFill>
          <a:ln w="4583">
            <a:solidFill>
              <a:srgbClr val="6767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68446" y="4116735"/>
            <a:ext cx="9577885" cy="1224241"/>
          </a:xfrm>
          <a:prstGeom prst="roundRect">
            <a:avLst/>
          </a:prstGeom>
          <a:solidFill>
            <a:srgbClr val="FFFFFF">
              <a:alpha val="0"/>
            </a:srgbClr>
          </a:solidFill>
          <a:ln w="4445">
            <a:solidFill>
              <a:srgbClr val="8F8F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04641" y="5586055"/>
            <a:ext cx="9577885" cy="936184"/>
          </a:xfrm>
          <a:prstGeom prst="roundRect">
            <a:avLst/>
          </a:prstGeom>
          <a:solidFill>
            <a:srgbClr val="FFFFFF">
              <a:alpha val="0"/>
            </a:srgbClr>
          </a:solidFill>
          <a:ln w="4445">
            <a:solidFill>
              <a:srgbClr val="8F8F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05710" y="4311015"/>
            <a:ext cx="2099945" cy="878840"/>
          </a:xfrm>
          <a:prstGeom prst="roundRect">
            <a:avLst/>
          </a:prstGeom>
          <a:solidFill>
            <a:srgbClr val="FFFFFF"/>
          </a:solidFill>
          <a:ln w="4583">
            <a:solidFill>
              <a:srgbClr val="67676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85690" y="4311015"/>
            <a:ext cx="2099945" cy="878840"/>
          </a:xfrm>
          <a:prstGeom prst="roundRect">
            <a:avLst/>
          </a:prstGeom>
          <a:solidFill>
            <a:srgbClr val="FFFFFF"/>
          </a:solidFill>
          <a:ln w="4583">
            <a:solidFill>
              <a:srgbClr val="67676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39635" y="4311015"/>
            <a:ext cx="2099945" cy="878840"/>
          </a:xfrm>
          <a:prstGeom prst="roundRect">
            <a:avLst/>
          </a:prstGeom>
          <a:solidFill>
            <a:srgbClr val="EDF4FC"/>
          </a:solidFill>
          <a:ln w="4583">
            <a:solidFill>
              <a:srgbClr val="83AB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2000" y="4311015"/>
            <a:ext cx="2099310" cy="878840"/>
          </a:xfrm>
          <a:prstGeom prst="roundRect">
            <a:avLst/>
          </a:prstGeom>
          <a:solidFill>
            <a:srgbClr val="FFFFFF"/>
          </a:solidFill>
          <a:ln w="4583">
            <a:solidFill>
              <a:srgbClr val="6767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45080" y="5772785"/>
            <a:ext cx="2577465" cy="648335"/>
          </a:xfrm>
          <a:prstGeom prst="roundRect">
            <a:avLst/>
          </a:prstGeom>
          <a:solidFill>
            <a:srgbClr val="FBF1E8"/>
          </a:solidFill>
          <a:ln w="4583">
            <a:solidFill>
              <a:srgbClr val="E2A06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93080" y="5772785"/>
            <a:ext cx="2971800" cy="648335"/>
          </a:xfrm>
          <a:prstGeom prst="roundRect">
            <a:avLst/>
          </a:prstGeom>
          <a:solidFill>
            <a:srgbClr val="FFFFFF"/>
          </a:solidFill>
          <a:ln w="4583">
            <a:solidFill>
              <a:srgbClr val="6767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14460" y="5772785"/>
            <a:ext cx="2590800" cy="648335"/>
          </a:xfrm>
          <a:prstGeom prst="roundRect">
            <a:avLst/>
          </a:prstGeom>
          <a:solidFill>
            <a:srgbClr val="FBF1E8"/>
          </a:solidFill>
          <a:ln w="4583">
            <a:solidFill>
              <a:srgbClr val="E2A06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74828" y="1661052"/>
            <a:ext cx="187237" cy="0"/>
          </a:xfrm>
          <a:prstGeom prst="line">
            <a:avLst/>
          </a:prstGeom>
          <a:noFill/>
          <a:ln w="6219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174828" y="2640445"/>
            <a:ext cx="187237" cy="0"/>
          </a:xfrm>
          <a:prstGeom prst="line">
            <a:avLst/>
          </a:prstGeom>
          <a:noFill/>
          <a:ln w="6219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36820" y="1487805"/>
            <a:ext cx="635" cy="173355"/>
          </a:xfrm>
          <a:prstGeom prst="line">
            <a:avLst/>
          </a:prstGeom>
          <a:noFill/>
          <a:ln w="4445">
            <a:solidFill>
              <a:srgbClr val="B5B5B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363062" y="2186755"/>
            <a:ext cx="525703" cy="0"/>
          </a:xfrm>
          <a:prstGeom prst="line">
            <a:avLst/>
          </a:prstGeom>
          <a:noFill/>
          <a:ln w="6219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71615" y="2186755"/>
            <a:ext cx="525703" cy="0"/>
          </a:xfrm>
          <a:prstGeom prst="line">
            <a:avLst/>
          </a:prstGeom>
          <a:noFill/>
          <a:ln w="6219">
            <a:solidFill>
              <a:srgbClr val="2876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97318" y="1567433"/>
            <a:ext cx="0" cy="619322"/>
          </a:xfrm>
          <a:prstGeom prst="line">
            <a:avLst/>
          </a:prstGeom>
          <a:noFill/>
          <a:ln w="6219">
            <a:solidFill>
              <a:srgbClr val="2876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97318" y="1567434"/>
            <a:ext cx="374474" cy="0"/>
          </a:xfrm>
          <a:prstGeom prst="line">
            <a:avLst/>
          </a:prstGeom>
          <a:noFill/>
          <a:ln w="6219">
            <a:solidFill>
              <a:srgbClr val="2876D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171615" y="2186755"/>
            <a:ext cx="525703" cy="0"/>
          </a:xfrm>
          <a:prstGeom prst="line">
            <a:avLst/>
          </a:prstGeom>
          <a:noFill/>
          <a:ln w="6219">
            <a:solidFill>
              <a:srgbClr val="EF7F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97318" y="2186755"/>
            <a:ext cx="0" cy="532905"/>
          </a:xfrm>
          <a:prstGeom prst="line">
            <a:avLst/>
          </a:prstGeom>
          <a:noFill/>
          <a:ln w="6219">
            <a:solidFill>
              <a:srgbClr val="EF7F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97318" y="2719660"/>
            <a:ext cx="374474" cy="0"/>
          </a:xfrm>
          <a:prstGeom prst="line">
            <a:avLst/>
          </a:prstGeom>
          <a:noFill/>
          <a:ln w="6219">
            <a:solidFill>
              <a:srgbClr val="EF7F2E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728118" y="1567434"/>
            <a:ext cx="201640" cy="0"/>
          </a:xfrm>
          <a:prstGeom prst="line">
            <a:avLst/>
          </a:prstGeom>
          <a:noFill/>
          <a:ln w="6219">
            <a:solidFill>
              <a:srgbClr val="11111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29758" y="1567434"/>
            <a:ext cx="0" cy="626523"/>
          </a:xfrm>
          <a:prstGeom prst="line">
            <a:avLst/>
          </a:prstGeom>
          <a:noFill/>
          <a:ln w="6219">
            <a:solidFill>
              <a:srgbClr val="11111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29758" y="2193957"/>
            <a:ext cx="216043" cy="0"/>
          </a:xfrm>
          <a:prstGeom prst="line">
            <a:avLst/>
          </a:prstGeom>
          <a:noFill/>
          <a:ln w="6219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728118" y="2719660"/>
            <a:ext cx="201640" cy="0"/>
          </a:xfrm>
          <a:prstGeom prst="line">
            <a:avLst/>
          </a:prstGeom>
          <a:noFill/>
          <a:ln w="6219">
            <a:solidFill>
              <a:srgbClr val="11111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29758" y="2193957"/>
            <a:ext cx="0" cy="525703"/>
          </a:xfrm>
          <a:prstGeom prst="line">
            <a:avLst/>
          </a:prstGeom>
          <a:noFill/>
          <a:ln w="6219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29758" y="2193957"/>
            <a:ext cx="216043" cy="0"/>
          </a:xfrm>
          <a:prstGeom prst="line">
            <a:avLst/>
          </a:prstGeom>
          <a:noFill/>
          <a:ln w="6219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470861" y="2193957"/>
            <a:ext cx="316862" cy="0"/>
          </a:xfrm>
          <a:prstGeom prst="line">
            <a:avLst/>
          </a:prstGeom>
          <a:noFill/>
          <a:ln w="6219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5560" y="3455035"/>
            <a:ext cx="11983720" cy="635"/>
          </a:xfrm>
          <a:prstGeom prst="line">
            <a:avLst/>
          </a:prstGeom>
          <a:noFill/>
          <a:ln w="12700" cap="flat" cmpd="sng">
            <a:solidFill>
              <a:schemeClr val="tx1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3555493" y="5413583"/>
            <a:ext cx="0" cy="172834"/>
          </a:xfrm>
          <a:prstGeom prst="line">
            <a:avLst/>
          </a:prstGeom>
          <a:noFill/>
          <a:ln w="31750" cmpd="sng">
            <a:solidFill>
              <a:schemeClr val="bg2">
                <a:lumMod val="75000"/>
              </a:schemeClr>
            </a:solidFill>
            <a:prstDash val="sysDot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4803703" y="165231"/>
            <a:ext cx="2577392" cy="33718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A. 事件触发式预测修正机制</a:t>
            </a:r>
            <a:endParaRPr lang="en-US" sz="1795" dirty="0"/>
          </a:p>
        </p:txBody>
      </p:sp>
      <p:sp>
        <p:nvSpPr>
          <p:cNvPr id="44" name="Text 42"/>
          <p:cNvSpPr/>
          <p:nvPr/>
        </p:nvSpPr>
        <p:spPr>
          <a:xfrm>
            <a:off x="878205" y="666115"/>
            <a:ext cx="1656715" cy="2711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候选预测结果生成</a:t>
            </a:r>
            <a:endParaRPr lang="en-US" sz="1500" b="1" dirty="0">
              <a:solidFill>
                <a:srgbClr val="2222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295775" y="666115"/>
            <a:ext cx="1546225" cy="2711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保守事件触发判断</a:t>
            </a:r>
            <a:endParaRPr lang="en-US" sz="1500" b="1" dirty="0">
              <a:solidFill>
                <a:srgbClr val="2222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032115" y="666115"/>
            <a:ext cx="1944370" cy="2711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分支选择与预测修正</a:t>
            </a:r>
            <a:endParaRPr lang="en-US" sz="1600" b="1" dirty="0">
              <a:solidFill>
                <a:srgbClr val="2222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43890" y="1283970"/>
            <a:ext cx="1247775" cy="22415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行为基线预测分支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78840" y="1487805"/>
            <a:ext cx="833120" cy="37020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5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稳定状态默认预测路径</a:t>
            </a:r>
            <a:endParaRPr lang="en-US" sz="985" dirty="0"/>
          </a:p>
        </p:txBody>
      </p:sp>
      <p:sp>
        <p:nvSpPr>
          <p:cNvPr id="49" name="Text 47"/>
          <p:cNvSpPr/>
          <p:nvPr/>
        </p:nvSpPr>
        <p:spPr>
          <a:xfrm>
            <a:off x="1071981" y="1832626"/>
            <a:ext cx="434116" cy="21495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ŷ_b</a:t>
            </a:r>
            <a:endParaRPr lang="en-US" sz="1040" b="1" dirty="0"/>
          </a:p>
        </p:txBody>
      </p:sp>
      <p:sp>
        <p:nvSpPr>
          <p:cNvPr id="50" name="Text 48"/>
          <p:cNvSpPr/>
          <p:nvPr/>
        </p:nvSpPr>
        <p:spPr>
          <a:xfrm>
            <a:off x="572770" y="2258695"/>
            <a:ext cx="1388745" cy="22415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图结构预测分支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78840" y="2482850"/>
            <a:ext cx="815975" cy="3378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 algn="ctr">
              <a:buNone/>
            </a:pPr>
            <a:r>
              <a:rPr lang="en-US" sz="985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事件窗口候选修正来源</a:t>
            </a:r>
            <a:endParaRPr lang="en-US" sz="985" dirty="0"/>
          </a:p>
        </p:txBody>
      </p:sp>
      <p:sp>
        <p:nvSpPr>
          <p:cNvPr id="52" name="Text 50"/>
          <p:cNvSpPr/>
          <p:nvPr/>
        </p:nvSpPr>
        <p:spPr>
          <a:xfrm>
            <a:off x="435610" y="2751455"/>
            <a:ext cx="1662430" cy="2152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ŷ_g1, ŷ_g2, ŷ_g3, ŷ_g4</a:t>
            </a:r>
            <a:endParaRPr lang="en-US" sz="1040" b="1" dirty="0"/>
          </a:p>
        </p:txBody>
      </p:sp>
      <p:sp>
        <p:nvSpPr>
          <p:cNvPr id="53" name="Text 51"/>
          <p:cNvSpPr/>
          <p:nvPr/>
        </p:nvSpPr>
        <p:spPr>
          <a:xfrm>
            <a:off x="2481587" y="1429210"/>
            <a:ext cx="625125" cy="40300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候选预测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481580" y="1858010"/>
            <a:ext cx="661670" cy="10185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 = [ŷ_b,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ŷ_g1,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ŷ_g2,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ŷ_g3,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ŷ_g4]</a:t>
            </a:r>
            <a:endParaRPr lang="en-US" sz="1200" b="1" i="1" dirty="0">
              <a:solidFill>
                <a:srgbClr val="333333"/>
              </a:solidFill>
              <a:latin typeface="Cambria Math" pitchFamily="34" charset="0"/>
              <a:ea typeface="Cambria Math" pitchFamily="34" charset="-122"/>
              <a:cs typeface="Cambria Math" pitchFamily="34" charset="-12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4167505" y="1183640"/>
            <a:ext cx="1728470" cy="2057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事件状态与因果可用特征</a:t>
            </a:r>
            <a:endParaRPr lang="en-US" sz="1100" b="1" dirty="0">
              <a:solidFill>
                <a:srgbClr val="2222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4407535" y="1953895"/>
            <a:ext cx="1246505" cy="4032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是否为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高置信事件窗口？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605845" y="2334444"/>
            <a:ext cx="855892" cy="21495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s(x) ≥ τ</a:t>
            </a:r>
            <a:endParaRPr lang="en-US" sz="1200" b="1" dirty="0"/>
          </a:p>
        </p:txBody>
      </p:sp>
      <p:sp>
        <p:nvSpPr>
          <p:cNvPr id="58" name="Text 56"/>
          <p:cNvSpPr/>
          <p:nvPr/>
        </p:nvSpPr>
        <p:spPr>
          <a:xfrm>
            <a:off x="4138295" y="2966720"/>
            <a:ext cx="1801495" cy="1962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仅使用预测时刻可见信息</a:t>
            </a:r>
            <a:endParaRPr 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587392" y="1283469"/>
            <a:ext cx="625125" cy="22436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稳定状态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239635" y="1477010"/>
            <a:ext cx="1325245" cy="2057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回退行为基线预测分支</a:t>
            </a:r>
            <a:endParaRPr lang="en-US" sz="1000" dirty="0">
              <a:solidFill>
                <a:srgbClr val="2222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7514186" y="1643108"/>
            <a:ext cx="771537" cy="21495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ŷ_b</a:t>
            </a:r>
            <a:endParaRPr lang="en-US" sz="1200" b="1" dirty="0"/>
          </a:p>
        </p:txBody>
      </p:sp>
      <p:sp>
        <p:nvSpPr>
          <p:cNvPr id="62" name="Text 60"/>
          <p:cNvSpPr/>
          <p:nvPr/>
        </p:nvSpPr>
        <p:spPr>
          <a:xfrm>
            <a:off x="7587392" y="2392488"/>
            <a:ext cx="625125" cy="22436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事件状态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262495" y="2586355"/>
            <a:ext cx="1247140" cy="2057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选择图结构预测分支</a:t>
            </a:r>
            <a:endParaRPr lang="en-US" sz="1000" dirty="0">
              <a:solidFill>
                <a:srgbClr val="2222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7472009" y="2766530"/>
            <a:ext cx="855892" cy="21495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ŷ_gj</a:t>
            </a:r>
            <a:endParaRPr lang="en-US" sz="1200" b="1" dirty="0"/>
          </a:p>
        </p:txBody>
      </p:sp>
      <p:sp>
        <p:nvSpPr>
          <p:cNvPr id="65" name="Text 63"/>
          <p:cNvSpPr/>
          <p:nvPr/>
        </p:nvSpPr>
        <p:spPr>
          <a:xfrm>
            <a:off x="6352937" y="1673260"/>
            <a:ext cx="314290" cy="22436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76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352937" y="2414092"/>
            <a:ext cx="314290" cy="22436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7F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9443962" y="1683006"/>
            <a:ext cx="728737" cy="40300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事件触发式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预测修正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9169497" y="2125603"/>
            <a:ext cx="1277667" cy="21495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 = 0：ŷ = ŷ_b</a:t>
            </a:r>
            <a:endParaRPr lang="en-US" sz="1200" b="1" dirty="0"/>
          </a:p>
        </p:txBody>
      </p:sp>
      <p:sp>
        <p:nvSpPr>
          <p:cNvPr id="69" name="Text 67"/>
          <p:cNvSpPr/>
          <p:nvPr/>
        </p:nvSpPr>
        <p:spPr>
          <a:xfrm>
            <a:off x="9127319" y="2413660"/>
            <a:ext cx="1362023" cy="21495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 = 1：ŷ = ŷ_gj</a:t>
            </a:r>
            <a:endParaRPr lang="en-US" sz="1200" b="1" dirty="0"/>
          </a:p>
        </p:txBody>
      </p:sp>
      <p:sp>
        <p:nvSpPr>
          <p:cNvPr id="70" name="Text 68"/>
          <p:cNvSpPr/>
          <p:nvPr/>
        </p:nvSpPr>
        <p:spPr>
          <a:xfrm>
            <a:off x="10918856" y="1855595"/>
            <a:ext cx="832349" cy="40300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最终充电负荷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点预测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1202328" y="2233625"/>
            <a:ext cx="265406" cy="21495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</a:t>
            </a:r>
            <a:endParaRPr lang="en-US" sz="1200" b="1" dirty="0"/>
          </a:p>
        </p:txBody>
      </p:sp>
      <p:sp>
        <p:nvSpPr>
          <p:cNvPr id="72" name="Text 70"/>
          <p:cNvSpPr/>
          <p:nvPr/>
        </p:nvSpPr>
        <p:spPr>
          <a:xfrm>
            <a:off x="4923790" y="3509645"/>
            <a:ext cx="1944370" cy="2057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预测修正机制输出支撑后续实验验证</a:t>
            </a:r>
            <a:endParaRPr lang="en-US" sz="9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4695430" y="3715529"/>
            <a:ext cx="2070239" cy="33718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B. 论文实验验证链条</a:t>
            </a:r>
            <a:endParaRPr lang="en-US" sz="1795" dirty="0"/>
          </a:p>
        </p:txBody>
      </p:sp>
      <p:sp>
        <p:nvSpPr>
          <p:cNvPr id="74" name="Text 72"/>
          <p:cNvSpPr/>
          <p:nvPr/>
        </p:nvSpPr>
        <p:spPr>
          <a:xfrm>
            <a:off x="305435" y="4588510"/>
            <a:ext cx="1656080" cy="2711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预测性能验证</a:t>
            </a:r>
            <a:endParaRPr lang="en-US" sz="1600" b="1" dirty="0">
              <a:solidFill>
                <a:srgbClr val="2222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435610" y="5835015"/>
            <a:ext cx="1319530" cy="4972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应用解释与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可靠性验证</a:t>
            </a:r>
            <a:endParaRPr lang="en-US" sz="1600" b="1" dirty="0">
              <a:solidFill>
                <a:srgbClr val="2222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2664460" y="4413250"/>
            <a:ext cx="1783080" cy="2241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数据基础与因果一致性</a:t>
            </a:r>
            <a:endParaRPr lang="en-US" sz="1300" b="1" dirty="0">
              <a:solidFill>
                <a:srgbClr val="2222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2783205" y="4685030"/>
            <a:ext cx="1546225" cy="4019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样本构成、时间划分、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预测时刻可见特征</a:t>
            </a:r>
            <a:endParaRPr lang="en-US" sz="1200" dirty="0">
              <a:solidFill>
                <a:srgbClr val="2222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5178425" y="4413250"/>
            <a:ext cx="1490345" cy="2241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行为事件建模验证</a:t>
            </a:r>
            <a:endParaRPr lang="en-US" sz="1300" b="1" dirty="0">
              <a:solidFill>
                <a:srgbClr val="2222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5271135" y="4686300"/>
            <a:ext cx="1426210" cy="4019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行为特征、事件状态、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图结构关系</a:t>
            </a:r>
            <a:endParaRPr lang="en-US" sz="1200" dirty="0">
              <a:solidFill>
                <a:srgbClr val="2222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7740650" y="4413250"/>
            <a:ext cx="1097915" cy="2241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点预测主实验</a:t>
            </a:r>
            <a:endParaRPr lang="en-US" sz="1300" b="1" dirty="0">
              <a:solidFill>
                <a:srgbClr val="2222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7659370" y="4637405"/>
            <a:ext cx="1245235" cy="2057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行为基线预测分支</a:t>
            </a:r>
            <a:endParaRPr lang="en-US" sz="1200" dirty="0">
              <a:solidFill>
                <a:srgbClr val="2222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7468870" y="4827270"/>
            <a:ext cx="1614170" cy="2057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事件触发式预测修正</a:t>
            </a:r>
            <a:endParaRPr lang="en-US" sz="1200" dirty="0">
              <a:solidFill>
                <a:srgbClr val="2222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7168515" y="4987290"/>
            <a:ext cx="2229485" cy="2057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评价：MAE、RMSE、WAPE</a:t>
            </a:r>
            <a:endParaRPr lang="en-US" sz="1200" dirty="0">
              <a:solidFill>
                <a:srgbClr val="2222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10180320" y="4413250"/>
            <a:ext cx="1097915" cy="2241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预测区间校准</a:t>
            </a:r>
            <a:endParaRPr lang="en-US" sz="1300" b="1" dirty="0">
              <a:solidFill>
                <a:srgbClr val="2222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10059670" y="4685030"/>
            <a:ext cx="1371600" cy="391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覆盖率、区间宽度、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区间评分</a:t>
            </a:r>
            <a:endParaRPr lang="en-US" sz="1200" dirty="0">
              <a:solidFill>
                <a:srgbClr val="2222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2952750" y="5854700"/>
            <a:ext cx="1742440" cy="2241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容量风险代理解释</a:t>
            </a:r>
            <a:endParaRPr lang="en-US" sz="1400" b="1" dirty="0">
              <a:solidFill>
                <a:srgbClr val="2222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2664460" y="6078855"/>
            <a:ext cx="2275840" cy="2374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负荷压力、容量风险、运行提示</a:t>
            </a:r>
            <a:endParaRPr lang="en-US" sz="1200" dirty="0">
              <a:solidFill>
                <a:srgbClr val="2222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6534150" y="5835015"/>
            <a:ext cx="1135380" cy="2241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稳健性验证</a:t>
            </a:r>
            <a:endParaRPr lang="en-US" sz="1400" b="1" dirty="0">
              <a:solidFill>
                <a:srgbClr val="2222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5923915" y="6078855"/>
            <a:ext cx="2230120" cy="2057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异常输入、事件扰动、结果稳定性</a:t>
            </a:r>
            <a:endParaRPr lang="en-US" sz="1100" dirty="0">
              <a:solidFill>
                <a:srgbClr val="2222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90" name="Text 88"/>
          <p:cNvSpPr/>
          <p:nvPr/>
        </p:nvSpPr>
        <p:spPr>
          <a:xfrm>
            <a:off x="9843135" y="5819140"/>
            <a:ext cx="944880" cy="24003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降级决策</a:t>
            </a:r>
            <a:endParaRPr lang="en-US" sz="1400" b="1" dirty="0">
              <a:solidFill>
                <a:srgbClr val="2222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9190990" y="6059170"/>
            <a:ext cx="2276475" cy="27051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稳定回退、保守触发、可用性保障</a:t>
            </a:r>
            <a:endParaRPr lang="en-US" sz="1100" dirty="0">
              <a:solidFill>
                <a:srgbClr val="2222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92" name="Shape 23"/>
          <p:cNvSpPr/>
          <p:nvPr/>
        </p:nvSpPr>
        <p:spPr>
          <a:xfrm flipH="1">
            <a:off x="5035550" y="2712720"/>
            <a:ext cx="635" cy="173355"/>
          </a:xfrm>
          <a:prstGeom prst="line">
            <a:avLst/>
          </a:prstGeom>
          <a:noFill/>
          <a:ln w="6219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93" name="Shape 37"/>
          <p:cNvSpPr/>
          <p:nvPr/>
        </p:nvSpPr>
        <p:spPr>
          <a:xfrm>
            <a:off x="35560" y="3613150"/>
            <a:ext cx="4850130" cy="1270"/>
          </a:xfrm>
          <a:prstGeom prst="line">
            <a:avLst/>
          </a:prstGeom>
          <a:noFill/>
          <a:ln w="12700" cap="flat" cmpd="sng">
            <a:solidFill>
              <a:schemeClr val="accent1">
                <a:shade val="50000"/>
              </a:schemeClr>
            </a:solidFill>
            <a:prstDash val="sysDot"/>
            <a:headEnd type="none"/>
            <a:tailEnd type="none"/>
          </a:ln>
        </p:spPr>
      </p:sp>
      <p:sp>
        <p:nvSpPr>
          <p:cNvPr id="94" name="Shape 37"/>
          <p:cNvSpPr/>
          <p:nvPr/>
        </p:nvSpPr>
        <p:spPr>
          <a:xfrm>
            <a:off x="6877685" y="3615690"/>
            <a:ext cx="5120640" cy="1270"/>
          </a:xfrm>
          <a:prstGeom prst="line">
            <a:avLst/>
          </a:prstGeom>
          <a:noFill/>
          <a:ln w="12700" cap="flat" cmpd="sng">
            <a:solidFill>
              <a:schemeClr val="accent1">
                <a:shade val="50000"/>
              </a:schemeClr>
            </a:solidFill>
            <a:prstDash val="sysDot"/>
            <a:headEnd type="none"/>
            <a:tailEnd type="none"/>
          </a:ln>
        </p:spPr>
      </p:sp>
      <p:sp>
        <p:nvSpPr>
          <p:cNvPr id="97" name="Shape 38"/>
          <p:cNvSpPr/>
          <p:nvPr/>
        </p:nvSpPr>
        <p:spPr>
          <a:xfrm>
            <a:off x="7168643" y="5412948"/>
            <a:ext cx="0" cy="172834"/>
          </a:xfrm>
          <a:prstGeom prst="line">
            <a:avLst/>
          </a:prstGeom>
          <a:noFill/>
          <a:ln w="31750" cmpd="sng">
            <a:solidFill>
              <a:schemeClr val="bg2">
                <a:lumMod val="75000"/>
              </a:schemeClr>
            </a:solidFill>
            <a:prstDash val="sysDot"/>
            <a:tailEnd type="triangle"/>
          </a:ln>
        </p:spPr>
      </p:sp>
      <p:sp>
        <p:nvSpPr>
          <p:cNvPr id="98" name="Shape 38"/>
          <p:cNvSpPr/>
          <p:nvPr/>
        </p:nvSpPr>
        <p:spPr>
          <a:xfrm>
            <a:off x="10729088" y="5412948"/>
            <a:ext cx="0" cy="172834"/>
          </a:xfrm>
          <a:prstGeom prst="line">
            <a:avLst/>
          </a:prstGeom>
          <a:noFill/>
          <a:ln w="31750" cmpd="sng">
            <a:solidFill>
              <a:schemeClr val="bg2">
                <a:lumMod val="75000"/>
              </a:schemeClr>
            </a:solidFill>
            <a:prstDash val="sysDot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" y="-313856"/>
            <a:ext cx="12178234" cy="6850712"/>
          </a:xfrm>
          <a:prstGeom prst="rect">
            <a:avLst/>
          </a:prstGeom>
          <a:solidFill>
            <a:srgbClr val="FFFFFF"/>
          </a:solidFill>
          <a:ln w="4445">
            <a:solidFill>
              <a:schemeClr val="tx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34423" y="116608"/>
            <a:ext cx="4678891" cy="291520"/>
          </a:xfrm>
          <a:prstGeom prst="roundRect">
            <a:avLst/>
          </a:prstGeom>
          <a:solidFill>
            <a:srgbClr val="EEF4FD"/>
          </a:solidFill>
          <a:ln w="4803">
            <a:solidFill>
              <a:srgbClr val="7EA8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29921" y="116608"/>
            <a:ext cx="2856893" cy="291520"/>
          </a:xfrm>
          <a:prstGeom prst="roundRect">
            <a:avLst/>
          </a:prstGeom>
          <a:solidFill>
            <a:srgbClr val="FBFCFA"/>
          </a:solidFill>
          <a:ln w="4803">
            <a:solidFill>
              <a:srgbClr val="B7CD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07486" y="116608"/>
            <a:ext cx="3760604" cy="291520"/>
          </a:xfrm>
          <a:prstGeom prst="roundRect">
            <a:avLst/>
          </a:prstGeom>
          <a:solidFill>
            <a:srgbClr val="FFF4EE"/>
          </a:solidFill>
          <a:ln w="4803">
            <a:solidFill>
              <a:srgbClr val="F1B07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23" y="583039"/>
            <a:ext cx="1421158" cy="1603358"/>
          </a:xfrm>
          <a:prstGeom prst="roundRect">
            <a:avLst/>
          </a:prstGeom>
          <a:solidFill>
            <a:srgbClr val="FFFFFF"/>
          </a:solidFill>
          <a:ln w="4803">
            <a:solidFill>
              <a:srgbClr val="5F5F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423" y="2405037"/>
            <a:ext cx="1421158" cy="1282687"/>
          </a:xfrm>
          <a:prstGeom prst="roundRect">
            <a:avLst/>
          </a:prstGeom>
          <a:solidFill>
            <a:srgbClr val="FFFFFF"/>
          </a:solidFill>
          <a:ln w="4803">
            <a:solidFill>
              <a:srgbClr val="5F5F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4423" y="3877211"/>
            <a:ext cx="1421158" cy="1457598"/>
          </a:xfrm>
          <a:prstGeom prst="roundRect">
            <a:avLst/>
          </a:prstGeom>
          <a:solidFill>
            <a:srgbClr val="FFFFFF"/>
          </a:solidFill>
          <a:ln w="4803">
            <a:solidFill>
              <a:srgbClr val="5F5F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22755" y="582930"/>
            <a:ext cx="4714875" cy="2069465"/>
          </a:xfrm>
          <a:prstGeom prst="roundRect">
            <a:avLst/>
          </a:prstGeom>
          <a:solidFill>
            <a:srgbClr val="FFFFFF">
              <a:alpha val="0"/>
            </a:srgbClr>
          </a:solidFill>
          <a:ln w="4445">
            <a:solidFill>
              <a:srgbClr val="8CB4E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825121" y="699792"/>
            <a:ext cx="1413870" cy="1836574"/>
          </a:xfrm>
          <a:prstGeom prst="roundRect">
            <a:avLst/>
          </a:prstGeom>
          <a:solidFill>
            <a:srgbClr val="FFFFFF"/>
          </a:solidFill>
          <a:ln w="4445">
            <a:solidFill>
              <a:srgbClr val="D7D7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1332" y="1690814"/>
            <a:ext cx="174912" cy="145760"/>
          </a:xfrm>
          <a:prstGeom prst="rect">
            <a:avLst/>
          </a:prstGeom>
          <a:solidFill>
            <a:srgbClr val="9FC2EF"/>
          </a:solidFill>
          <a:ln w="4445">
            <a:solidFill>
              <a:srgbClr val="4A86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20820" y="1690814"/>
            <a:ext cx="174912" cy="145760"/>
          </a:xfrm>
          <a:prstGeom prst="rect">
            <a:avLst/>
          </a:prstGeom>
          <a:solidFill>
            <a:srgbClr val="6CA0E8"/>
          </a:solidFill>
          <a:ln w="4445">
            <a:solidFill>
              <a:srgbClr val="4A86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0308" y="1690814"/>
            <a:ext cx="174912" cy="145760"/>
          </a:xfrm>
          <a:prstGeom prst="rect">
            <a:avLst/>
          </a:prstGeom>
          <a:solidFill>
            <a:srgbClr val="3F7FD5"/>
          </a:solidFill>
          <a:ln w="4445">
            <a:solidFill>
              <a:srgbClr val="4A86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99796" y="1690814"/>
            <a:ext cx="174912" cy="145760"/>
          </a:xfrm>
          <a:prstGeom prst="rect">
            <a:avLst/>
          </a:prstGeom>
          <a:solidFill>
            <a:srgbClr val="9FC2EF"/>
          </a:solidFill>
          <a:ln w="4445">
            <a:solidFill>
              <a:srgbClr val="4A86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04212" y="1617934"/>
            <a:ext cx="174912" cy="145760"/>
          </a:xfrm>
          <a:prstGeom prst="rect">
            <a:avLst/>
          </a:prstGeom>
          <a:solidFill>
            <a:srgbClr val="9FC2EF"/>
          </a:solidFill>
          <a:ln w="4445">
            <a:solidFill>
              <a:srgbClr val="4A86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93700" y="1617934"/>
            <a:ext cx="174912" cy="145760"/>
          </a:xfrm>
          <a:prstGeom prst="rect">
            <a:avLst/>
          </a:prstGeom>
          <a:solidFill>
            <a:srgbClr val="6CA0E8"/>
          </a:solidFill>
          <a:ln w="4445">
            <a:solidFill>
              <a:srgbClr val="4A86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83188" y="1617934"/>
            <a:ext cx="174912" cy="145760"/>
          </a:xfrm>
          <a:prstGeom prst="rect">
            <a:avLst/>
          </a:prstGeom>
          <a:solidFill>
            <a:srgbClr val="3F7FD5"/>
          </a:solidFill>
          <a:ln w="4445">
            <a:solidFill>
              <a:srgbClr val="4A86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2676" y="1617934"/>
            <a:ext cx="174912" cy="145760"/>
          </a:xfrm>
          <a:prstGeom prst="rect">
            <a:avLst/>
          </a:prstGeom>
          <a:solidFill>
            <a:srgbClr val="9FC2EF"/>
          </a:solidFill>
          <a:ln w="4445">
            <a:solidFill>
              <a:srgbClr val="4A86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77092" y="1545054"/>
            <a:ext cx="174912" cy="145760"/>
          </a:xfrm>
          <a:prstGeom prst="rect">
            <a:avLst/>
          </a:prstGeom>
          <a:solidFill>
            <a:srgbClr val="9FC2EF"/>
          </a:solidFill>
          <a:ln w="4445">
            <a:solidFill>
              <a:srgbClr val="4A86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66580" y="1545054"/>
            <a:ext cx="174912" cy="145760"/>
          </a:xfrm>
          <a:prstGeom prst="rect">
            <a:avLst/>
          </a:prstGeom>
          <a:solidFill>
            <a:srgbClr val="6CA0E8"/>
          </a:solidFill>
          <a:ln w="4445">
            <a:solidFill>
              <a:srgbClr val="4A86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6068" y="1545054"/>
            <a:ext cx="174912" cy="145760"/>
          </a:xfrm>
          <a:prstGeom prst="rect">
            <a:avLst/>
          </a:prstGeom>
          <a:solidFill>
            <a:srgbClr val="3F7FD5"/>
          </a:solidFill>
          <a:ln w="4445">
            <a:solidFill>
              <a:srgbClr val="4A86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45556" y="1545054"/>
            <a:ext cx="174912" cy="145760"/>
          </a:xfrm>
          <a:prstGeom prst="rect">
            <a:avLst/>
          </a:prstGeom>
          <a:solidFill>
            <a:srgbClr val="9FC2EF"/>
          </a:solidFill>
          <a:ln w="4445">
            <a:solidFill>
              <a:srgbClr val="4A86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49972" y="1472174"/>
            <a:ext cx="174912" cy="145760"/>
          </a:xfrm>
          <a:prstGeom prst="rect">
            <a:avLst/>
          </a:prstGeom>
          <a:solidFill>
            <a:srgbClr val="9FC2EF"/>
          </a:solidFill>
          <a:ln w="4445">
            <a:solidFill>
              <a:srgbClr val="4A86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39460" y="1472174"/>
            <a:ext cx="174912" cy="145760"/>
          </a:xfrm>
          <a:prstGeom prst="rect">
            <a:avLst/>
          </a:prstGeom>
          <a:solidFill>
            <a:srgbClr val="6CA0E8"/>
          </a:solidFill>
          <a:ln w="4445">
            <a:solidFill>
              <a:srgbClr val="4A86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28948" y="1472174"/>
            <a:ext cx="174912" cy="145760"/>
          </a:xfrm>
          <a:prstGeom prst="rect">
            <a:avLst/>
          </a:prstGeom>
          <a:solidFill>
            <a:srgbClr val="3F7FD5"/>
          </a:solidFill>
          <a:ln w="4445">
            <a:solidFill>
              <a:srgbClr val="4A86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18436" y="1472174"/>
            <a:ext cx="174912" cy="145760"/>
          </a:xfrm>
          <a:prstGeom prst="rect">
            <a:avLst/>
          </a:prstGeom>
          <a:solidFill>
            <a:srgbClr val="9FC2EF"/>
          </a:solidFill>
          <a:ln w="4445">
            <a:solidFill>
              <a:srgbClr val="4A86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4550" y="699770"/>
            <a:ext cx="1428750" cy="1835785"/>
          </a:xfrm>
          <a:prstGeom prst="roundRect">
            <a:avLst/>
          </a:prstGeom>
          <a:solidFill>
            <a:srgbClr val="FFFFFF"/>
          </a:solidFill>
          <a:ln w="4445">
            <a:solidFill>
              <a:srgbClr val="D7D7D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32846" y="1559630"/>
            <a:ext cx="918287" cy="306096"/>
          </a:xfrm>
          <a:prstGeom prst="roundRect">
            <a:avLst/>
          </a:prstGeom>
          <a:solidFill>
            <a:srgbClr val="F8FBFF"/>
          </a:solidFill>
          <a:ln w="4445">
            <a:solidFill>
              <a:srgbClr val="8CAA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32846" y="1967758"/>
            <a:ext cx="918287" cy="306096"/>
          </a:xfrm>
          <a:prstGeom prst="roundRect">
            <a:avLst/>
          </a:prstGeom>
          <a:solidFill>
            <a:srgbClr val="FFFFFF"/>
          </a:solidFill>
          <a:ln w="4445">
            <a:solidFill>
              <a:srgbClr val="8CAA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59350" y="728980"/>
            <a:ext cx="1370330" cy="1806575"/>
          </a:xfrm>
          <a:prstGeom prst="roundRect">
            <a:avLst/>
          </a:prstGeom>
          <a:solidFill>
            <a:srgbClr val="FFFFFF"/>
          </a:solidFill>
          <a:ln w="4445">
            <a:solidFill>
              <a:srgbClr val="D7D7D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94321" y="1571592"/>
            <a:ext cx="174912" cy="145760"/>
          </a:xfrm>
          <a:prstGeom prst="rect">
            <a:avLst/>
          </a:prstGeom>
          <a:solidFill>
            <a:srgbClr val="D6E6FA"/>
          </a:solidFill>
          <a:ln w="4445">
            <a:solidFill>
              <a:srgbClr val="4A89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69233" y="1571592"/>
            <a:ext cx="174912" cy="145760"/>
          </a:xfrm>
          <a:prstGeom prst="rect">
            <a:avLst/>
          </a:prstGeom>
          <a:solidFill>
            <a:srgbClr val="8FB7EC"/>
          </a:solidFill>
          <a:ln w="4445">
            <a:solidFill>
              <a:srgbClr val="4A89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44144" y="1571592"/>
            <a:ext cx="174912" cy="145760"/>
          </a:xfrm>
          <a:prstGeom prst="rect">
            <a:avLst/>
          </a:prstGeom>
          <a:solidFill>
            <a:srgbClr val="D6E6FA"/>
          </a:solidFill>
          <a:ln w="4445">
            <a:solidFill>
              <a:srgbClr val="4A89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19056" y="1571592"/>
            <a:ext cx="174912" cy="145760"/>
          </a:xfrm>
          <a:prstGeom prst="rect">
            <a:avLst/>
          </a:prstGeom>
          <a:solidFill>
            <a:srgbClr val="4A89DC"/>
          </a:solidFill>
          <a:ln w="4445">
            <a:solidFill>
              <a:srgbClr val="4A89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20735" y="874559"/>
            <a:ext cx="962015" cy="1005743"/>
          </a:xfrm>
          <a:prstGeom prst="roundRect">
            <a:avLst/>
          </a:prstGeom>
          <a:solidFill>
            <a:srgbClr val="EDF3FB"/>
          </a:solidFill>
          <a:ln w="4803">
            <a:solidFill>
              <a:srgbClr val="7EA8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23205" y="3877211"/>
            <a:ext cx="1166079" cy="1384718"/>
          </a:xfrm>
          <a:prstGeom prst="roundRect">
            <a:avLst/>
          </a:prstGeom>
          <a:solidFill>
            <a:srgbClr val="F1F6EB"/>
          </a:solidFill>
          <a:ln w="4803">
            <a:solidFill>
              <a:srgbClr val="97C08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87605" y="4897530"/>
            <a:ext cx="87456" cy="87456"/>
          </a:xfrm>
          <a:prstGeom prst="ellipse">
            <a:avLst/>
          </a:prstGeom>
          <a:solidFill>
            <a:srgbClr val="9FC791"/>
          </a:solidFill>
          <a:ln w="4445">
            <a:solidFill>
              <a:srgbClr val="2E6B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12693" y="5043290"/>
            <a:ext cx="87456" cy="87456"/>
          </a:xfrm>
          <a:prstGeom prst="ellipse">
            <a:avLst/>
          </a:prstGeom>
          <a:solidFill>
            <a:srgbClr val="9FC791"/>
          </a:solidFill>
          <a:ln w="4445">
            <a:solidFill>
              <a:srgbClr val="2E6B2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04212" y="5152610"/>
            <a:ext cx="87456" cy="87456"/>
          </a:xfrm>
          <a:prstGeom prst="ellipse">
            <a:avLst/>
          </a:prstGeom>
          <a:solidFill>
            <a:srgbClr val="9FC791"/>
          </a:solidFill>
          <a:ln w="4445">
            <a:solidFill>
              <a:srgbClr val="2E6B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64548" y="4984986"/>
            <a:ext cx="87456" cy="87456"/>
          </a:xfrm>
          <a:prstGeom prst="ellipse">
            <a:avLst/>
          </a:prstGeom>
          <a:solidFill>
            <a:srgbClr val="9FC791"/>
          </a:solidFill>
          <a:ln w="4445">
            <a:solidFill>
              <a:srgbClr val="2E6B2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54036" y="4810074"/>
            <a:ext cx="276944" cy="116608"/>
          </a:xfrm>
          <a:prstGeom prst="rect">
            <a:avLst/>
          </a:prstGeom>
          <a:solidFill>
            <a:srgbClr val="B7D5A8"/>
          </a:solidFill>
          <a:ln w="4445">
            <a:solidFill>
              <a:srgbClr val="2E6B2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54036" y="4970410"/>
            <a:ext cx="276944" cy="116608"/>
          </a:xfrm>
          <a:prstGeom prst="rect">
            <a:avLst/>
          </a:prstGeom>
          <a:solidFill>
            <a:srgbClr val="B7D5A8"/>
          </a:solidFill>
          <a:ln w="4445">
            <a:solidFill>
              <a:srgbClr val="2E6B2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54036" y="5130746"/>
            <a:ext cx="276944" cy="116608"/>
          </a:xfrm>
          <a:prstGeom prst="rect">
            <a:avLst/>
          </a:prstGeom>
          <a:solidFill>
            <a:srgbClr val="B7D5A8"/>
          </a:solidFill>
          <a:ln w="4445">
            <a:solidFill>
              <a:srgbClr val="2E6B2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78480" y="3338195"/>
            <a:ext cx="1355725" cy="1924050"/>
          </a:xfrm>
          <a:prstGeom prst="roundRect">
            <a:avLst/>
          </a:prstGeom>
          <a:solidFill>
            <a:srgbClr val="F1F6EB"/>
          </a:solidFill>
          <a:ln w="4803">
            <a:solidFill>
              <a:srgbClr val="97C08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94744" y="4118276"/>
            <a:ext cx="1122351" cy="276944"/>
          </a:xfrm>
          <a:prstGeom prst="roundRect">
            <a:avLst/>
          </a:prstGeom>
          <a:solidFill>
            <a:srgbClr val="EDF3FB"/>
          </a:solidFill>
          <a:ln w="4445">
            <a:solidFill>
              <a:srgbClr val="7EA8D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94744" y="4511828"/>
            <a:ext cx="1122351" cy="276944"/>
          </a:xfrm>
          <a:prstGeom prst="roundRect">
            <a:avLst/>
          </a:prstGeom>
          <a:solidFill>
            <a:srgbClr val="FFF6EE"/>
          </a:solidFill>
          <a:ln w="4445">
            <a:solidFill>
              <a:srgbClr val="E5A0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94744" y="4905379"/>
            <a:ext cx="1122351" cy="276944"/>
          </a:xfrm>
          <a:prstGeom prst="roundRect">
            <a:avLst/>
          </a:prstGeom>
          <a:solidFill>
            <a:srgbClr val="F6FAF0"/>
          </a:solidFill>
          <a:ln w="4445">
            <a:solidFill>
              <a:srgbClr val="97C08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25857" y="2915197"/>
            <a:ext cx="2652829" cy="2477917"/>
          </a:xfrm>
          <a:prstGeom prst="roundRect">
            <a:avLst/>
          </a:prstGeom>
          <a:solidFill>
            <a:srgbClr val="FFFFFF">
              <a:alpha val="0"/>
            </a:srgbClr>
          </a:solidFill>
          <a:ln w="4445">
            <a:solidFill>
              <a:srgbClr val="A6CD99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4944497" y="3250444"/>
            <a:ext cx="1064047" cy="976591"/>
          </a:xfrm>
          <a:prstGeom prst="roundRect">
            <a:avLst/>
          </a:prstGeom>
          <a:solidFill>
            <a:srgbClr val="F1F6EB"/>
          </a:solidFill>
          <a:ln w="4803">
            <a:solidFill>
              <a:srgbClr val="97C08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68880" y="3250444"/>
            <a:ext cx="1064047" cy="976591"/>
          </a:xfrm>
          <a:prstGeom prst="roundRect">
            <a:avLst/>
          </a:prstGeom>
          <a:solidFill>
            <a:srgbClr val="F1F6EB"/>
          </a:solidFill>
          <a:ln w="4803">
            <a:solidFill>
              <a:srgbClr val="97C08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44497" y="4343643"/>
            <a:ext cx="1064047" cy="976591"/>
          </a:xfrm>
          <a:prstGeom prst="roundRect">
            <a:avLst/>
          </a:prstGeom>
          <a:solidFill>
            <a:srgbClr val="F1F6EB"/>
          </a:solidFill>
          <a:ln w="4803">
            <a:solidFill>
              <a:srgbClr val="97C08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68880" y="4343643"/>
            <a:ext cx="1064047" cy="976591"/>
          </a:xfrm>
          <a:prstGeom prst="roundRect">
            <a:avLst/>
          </a:prstGeom>
          <a:solidFill>
            <a:srgbClr val="F1F6EB"/>
          </a:solidFill>
          <a:ln w="4803">
            <a:solidFill>
              <a:srgbClr val="97C08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61726" y="1093199"/>
            <a:ext cx="1049471" cy="3614844"/>
          </a:xfrm>
          <a:prstGeom prst="roundRect">
            <a:avLst/>
          </a:prstGeom>
          <a:solidFill>
            <a:srgbClr val="FFFDF8"/>
          </a:solidFill>
          <a:ln w="4803">
            <a:solidFill>
              <a:srgbClr val="E5A05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63758" y="1719966"/>
            <a:ext cx="845407" cy="320672"/>
          </a:xfrm>
          <a:prstGeom prst="roundRect">
            <a:avLst/>
          </a:prstGeom>
          <a:solidFill>
            <a:srgbClr val="EDF3FB"/>
          </a:solidFill>
          <a:ln w="4445">
            <a:solidFill>
              <a:srgbClr val="7EA8D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63758" y="2142670"/>
            <a:ext cx="845407" cy="320672"/>
          </a:xfrm>
          <a:prstGeom prst="roundRect">
            <a:avLst/>
          </a:prstGeom>
          <a:solidFill>
            <a:srgbClr val="F1F6EB"/>
          </a:solidFill>
          <a:ln w="4445">
            <a:solidFill>
              <a:srgbClr val="97C08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63758" y="2565373"/>
            <a:ext cx="845407" cy="320672"/>
          </a:xfrm>
          <a:prstGeom prst="roundRect">
            <a:avLst/>
          </a:prstGeom>
          <a:solidFill>
            <a:srgbClr val="F1F6EB"/>
          </a:solidFill>
          <a:ln w="4445">
            <a:solidFill>
              <a:srgbClr val="97C08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63758" y="2988077"/>
            <a:ext cx="845407" cy="320672"/>
          </a:xfrm>
          <a:prstGeom prst="roundRect">
            <a:avLst/>
          </a:prstGeom>
          <a:solidFill>
            <a:srgbClr val="F1F6EB"/>
          </a:solidFill>
          <a:ln w="4445">
            <a:solidFill>
              <a:srgbClr val="97C08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063758" y="3410780"/>
            <a:ext cx="845407" cy="320672"/>
          </a:xfrm>
          <a:prstGeom prst="roundRect">
            <a:avLst/>
          </a:prstGeom>
          <a:solidFill>
            <a:srgbClr val="F1F6EB"/>
          </a:solidFill>
          <a:ln w="4445">
            <a:solidFill>
              <a:srgbClr val="97C08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492204" y="954727"/>
            <a:ext cx="1399294" cy="1064047"/>
          </a:xfrm>
          <a:prstGeom prst="diamond">
            <a:avLst/>
          </a:prstGeom>
          <a:solidFill>
            <a:srgbClr val="FFFFFF"/>
          </a:solidFill>
          <a:ln w="5135">
            <a:solidFill>
              <a:srgbClr val="EE7C2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113228" y="2652829"/>
            <a:ext cx="1136927" cy="991167"/>
          </a:xfrm>
          <a:prstGeom prst="roundRect">
            <a:avLst/>
          </a:prstGeom>
          <a:solidFill>
            <a:srgbClr val="EDF3FB"/>
          </a:solidFill>
          <a:ln w="4803">
            <a:solidFill>
              <a:srgbClr val="7EA8D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614322" y="2662989"/>
            <a:ext cx="1136927" cy="991167"/>
          </a:xfrm>
          <a:prstGeom prst="roundRect">
            <a:avLst/>
          </a:prstGeom>
          <a:solidFill>
            <a:srgbClr val="FBF1E6"/>
          </a:solidFill>
          <a:ln w="4803">
            <a:solidFill>
              <a:srgbClr val="E5A0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27804" y="3964667"/>
            <a:ext cx="2594525" cy="1064047"/>
          </a:xfrm>
          <a:prstGeom prst="roundRect">
            <a:avLst/>
          </a:prstGeom>
          <a:solidFill>
            <a:srgbClr val="FBF1E6"/>
          </a:solidFill>
          <a:ln w="4803">
            <a:solidFill>
              <a:srgbClr val="E5A05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71532" y="5247354"/>
            <a:ext cx="2507069" cy="918287"/>
          </a:xfrm>
          <a:prstGeom prst="roundRect">
            <a:avLst/>
          </a:prstGeom>
          <a:solidFill>
            <a:srgbClr val="FBFBFB"/>
          </a:solidFill>
          <a:ln w="4803">
            <a:solidFill>
              <a:srgbClr val="C8C8C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285925" y="5611753"/>
            <a:ext cx="7142232" cy="626767"/>
          </a:xfrm>
          <a:prstGeom prst="roundRect">
            <a:avLst/>
          </a:prstGeom>
          <a:solidFill>
            <a:srgbClr val="FBFBFB"/>
          </a:solidFill>
          <a:ln w="4445">
            <a:solidFill>
              <a:srgbClr val="C8C8C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766933" y="5910561"/>
            <a:ext cx="1457598" cy="247792"/>
          </a:xfrm>
          <a:prstGeom prst="roundRect">
            <a:avLst/>
          </a:prstGeom>
          <a:solidFill>
            <a:srgbClr val="FFFFFF"/>
          </a:solidFill>
          <a:ln w="4445">
            <a:solidFill>
              <a:srgbClr val="C8C8C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56555" y="5910561"/>
            <a:ext cx="1457598" cy="247792"/>
          </a:xfrm>
          <a:prstGeom prst="roundRect">
            <a:avLst/>
          </a:prstGeom>
          <a:solidFill>
            <a:srgbClr val="FFFFFF"/>
          </a:solidFill>
          <a:ln w="4445">
            <a:solidFill>
              <a:srgbClr val="C8C8C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75328" y="5910561"/>
            <a:ext cx="1457598" cy="247792"/>
          </a:xfrm>
          <a:prstGeom prst="roundRect">
            <a:avLst/>
          </a:prstGeom>
          <a:solidFill>
            <a:srgbClr val="FFFFFF"/>
          </a:solidFill>
          <a:ln w="4445">
            <a:solidFill>
              <a:srgbClr val="C8C8C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9847" y="6398857"/>
            <a:ext cx="8636270" cy="276944"/>
          </a:xfrm>
          <a:prstGeom prst="roundRect">
            <a:avLst/>
          </a:prstGeom>
          <a:solidFill>
            <a:srgbClr val="FFFFFF"/>
          </a:solidFill>
          <a:ln w="4445">
            <a:solidFill>
              <a:srgbClr val="8F8F8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947588" y="6464448"/>
            <a:ext cx="218640" cy="131184"/>
          </a:xfrm>
          <a:prstGeom prst="roundRect">
            <a:avLst/>
          </a:prstGeom>
          <a:solidFill>
            <a:srgbClr val="EDF3FB"/>
          </a:solidFill>
          <a:ln w="4445">
            <a:solidFill>
              <a:srgbClr val="7EA8D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550946" y="6464448"/>
            <a:ext cx="218640" cy="131184"/>
          </a:xfrm>
          <a:prstGeom prst="roundRect">
            <a:avLst/>
          </a:prstGeom>
          <a:solidFill>
            <a:srgbClr val="F1F6EB"/>
          </a:solidFill>
          <a:ln w="4445">
            <a:solidFill>
              <a:srgbClr val="97C08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168880" y="6464448"/>
            <a:ext cx="218640" cy="131184"/>
          </a:xfrm>
          <a:prstGeom prst="roundRect">
            <a:avLst/>
          </a:prstGeom>
          <a:solidFill>
            <a:srgbClr val="FBF1E6"/>
          </a:solidFill>
          <a:ln w="4445">
            <a:solidFill>
              <a:srgbClr val="E5A05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13934" y="6464448"/>
            <a:ext cx="218640" cy="131184"/>
          </a:xfrm>
          <a:prstGeom prst="roundRect">
            <a:avLst/>
          </a:prstGeom>
          <a:solidFill>
            <a:srgbClr val="FBFBFB"/>
          </a:solidFill>
          <a:ln w="4445">
            <a:solidFill>
              <a:srgbClr val="C8C8C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815966" y="466431"/>
            <a:ext cx="0" cy="4984986"/>
          </a:xfrm>
          <a:prstGeom prst="line">
            <a:avLst/>
          </a:prstGeom>
          <a:noFill/>
          <a:ln w="4445">
            <a:solidFill>
              <a:srgbClr val="EFB48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868089" y="466431"/>
            <a:ext cx="0" cy="4984986"/>
          </a:xfrm>
          <a:prstGeom prst="line">
            <a:avLst/>
          </a:prstGeom>
          <a:noFill/>
          <a:ln w="4445">
            <a:solidFill>
              <a:srgbClr val="EFB48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000149" y="1596070"/>
            <a:ext cx="0" cy="473719"/>
          </a:xfrm>
          <a:prstGeom prst="line">
            <a:avLst/>
          </a:prstGeom>
          <a:noFill/>
          <a:ln w="4969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2102181" y="2149957"/>
            <a:ext cx="816255" cy="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3238356" y="1341506"/>
            <a:ext cx="145760" cy="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 flipH="1">
            <a:off x="3310255" y="1819910"/>
            <a:ext cx="1270" cy="58674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311525" y="2404745"/>
            <a:ext cx="1576705" cy="127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H="1" flipV="1">
            <a:off x="3310890" y="1419860"/>
            <a:ext cx="635" cy="41656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6437630" y="1342390"/>
            <a:ext cx="182880" cy="635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7101743" y="1880302"/>
            <a:ext cx="0" cy="196776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1956420" y="4941258"/>
            <a:ext cx="174912" cy="145760"/>
          </a:xfrm>
          <a:prstGeom prst="line">
            <a:avLst/>
          </a:prstGeom>
          <a:noFill/>
          <a:ln w="4445">
            <a:solidFill>
              <a:srgbClr val="2E6B2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131332" y="4941258"/>
            <a:ext cx="276944" cy="87456"/>
          </a:xfrm>
          <a:prstGeom prst="line">
            <a:avLst/>
          </a:prstGeom>
          <a:noFill/>
          <a:ln w="4445">
            <a:solidFill>
              <a:srgbClr val="2E6B2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956421" y="5087018"/>
            <a:ext cx="291520" cy="109320"/>
          </a:xfrm>
          <a:prstGeom prst="line">
            <a:avLst/>
          </a:prstGeom>
          <a:noFill/>
          <a:ln w="4445">
            <a:solidFill>
              <a:srgbClr val="2E6B2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247940" y="5028714"/>
            <a:ext cx="160336" cy="167624"/>
          </a:xfrm>
          <a:prstGeom prst="line">
            <a:avLst/>
          </a:prstGeom>
          <a:noFill/>
          <a:ln w="4445">
            <a:solidFill>
              <a:srgbClr val="2E6B2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555750" y="1339215"/>
            <a:ext cx="145415" cy="254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 flipV="1">
            <a:off x="846455" y="3689350"/>
            <a:ext cx="635" cy="10414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049619" y="3789756"/>
            <a:ext cx="29152" cy="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1555581" y="4649739"/>
            <a:ext cx="167624" cy="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2889284" y="4649739"/>
            <a:ext cx="189488" cy="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5615940" y="2536825"/>
            <a:ext cx="635" cy="23241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56554" y="2769437"/>
            <a:ext cx="1858438" cy="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756555" y="2769437"/>
            <a:ext cx="0" cy="568463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4434338" y="4117715"/>
            <a:ext cx="291520" cy="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>
            <a:off x="9011196" y="1486750"/>
            <a:ext cx="481007" cy="0"/>
          </a:xfrm>
          <a:prstGeom prst="line">
            <a:avLst/>
          </a:prstGeom>
          <a:noFill/>
          <a:ln w="4472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 flipH="1">
            <a:off x="10191115" y="2018665"/>
            <a:ext cx="635" cy="34798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679940" y="2366645"/>
            <a:ext cx="511175" cy="635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683750" y="2366645"/>
            <a:ext cx="635" cy="286385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10891520" y="1486535"/>
            <a:ext cx="410845" cy="635"/>
          </a:xfrm>
          <a:prstGeom prst="line">
            <a:avLst/>
          </a:prstGeom>
          <a:noFill/>
          <a:ln w="6350">
            <a:solidFill>
              <a:srgbClr val="111111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1299825" y="1486535"/>
            <a:ext cx="635" cy="105029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299626" y="2536221"/>
            <a:ext cx="0" cy="116608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05" name="Shape 103"/>
          <p:cNvSpPr/>
          <p:nvPr/>
        </p:nvSpPr>
        <p:spPr>
          <a:xfrm>
            <a:off x="9681845" y="3644265"/>
            <a:ext cx="635" cy="14986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681692" y="3794085"/>
            <a:ext cx="743375" cy="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425067" y="3848060"/>
            <a:ext cx="0" cy="116608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11169015" y="3653790"/>
            <a:ext cx="635" cy="13970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H="1">
            <a:off x="10419080" y="3794125"/>
            <a:ext cx="751205" cy="127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425430" y="3794125"/>
            <a:ext cx="635" cy="170815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10425067" y="5028714"/>
            <a:ext cx="0" cy="21864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12" name="Shape 110"/>
          <p:cNvSpPr/>
          <p:nvPr/>
        </p:nvSpPr>
        <p:spPr>
          <a:xfrm>
            <a:off x="7582750" y="1340990"/>
            <a:ext cx="378976" cy="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7378686" y="3119260"/>
            <a:ext cx="583039" cy="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14" name="Shape 112"/>
          <p:cNvSpPr/>
          <p:nvPr/>
        </p:nvSpPr>
        <p:spPr>
          <a:xfrm>
            <a:off x="7378686" y="3541964"/>
            <a:ext cx="583039" cy="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15" name="Shape 113"/>
          <p:cNvSpPr/>
          <p:nvPr/>
        </p:nvSpPr>
        <p:spPr>
          <a:xfrm>
            <a:off x="7378686" y="3891787"/>
            <a:ext cx="583039" cy="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16" name="Shape 114"/>
          <p:cNvSpPr/>
          <p:nvPr/>
        </p:nvSpPr>
        <p:spPr>
          <a:xfrm>
            <a:off x="309335" y="6537328"/>
            <a:ext cx="262368" cy="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17" name="Shape 115"/>
          <p:cNvSpPr/>
          <p:nvPr/>
        </p:nvSpPr>
        <p:spPr>
          <a:xfrm>
            <a:off x="1446261" y="6537328"/>
            <a:ext cx="276944" cy="0"/>
          </a:xfrm>
          <a:prstGeom prst="line">
            <a:avLst/>
          </a:prstGeom>
          <a:noFill/>
          <a:ln w="4472">
            <a:solidFill>
              <a:srgbClr val="A8A8A8"/>
            </a:solidFill>
            <a:prstDash val="solid"/>
            <a:tailEnd type="triangle"/>
          </a:ln>
        </p:spPr>
      </p:sp>
      <p:sp>
        <p:nvSpPr>
          <p:cNvPr id="118" name="Text 116"/>
          <p:cNvSpPr/>
          <p:nvPr/>
        </p:nvSpPr>
        <p:spPr>
          <a:xfrm>
            <a:off x="1866317" y="102341"/>
            <a:ext cx="1215102" cy="2931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215FB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时间特征提取层</a:t>
            </a:r>
            <a:endParaRPr lang="en-US" sz="1520" dirty="0"/>
          </a:p>
        </p:txBody>
      </p:sp>
      <p:sp>
        <p:nvSpPr>
          <p:cNvPr id="119" name="Text 117"/>
          <p:cNvSpPr/>
          <p:nvPr/>
        </p:nvSpPr>
        <p:spPr>
          <a:xfrm>
            <a:off x="5679072" y="102341"/>
            <a:ext cx="1358592" cy="2931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图结构预测分支层</a:t>
            </a:r>
            <a:endParaRPr lang="en-US" sz="1520" dirty="0"/>
          </a:p>
        </p:txBody>
      </p:sp>
      <p:sp>
        <p:nvSpPr>
          <p:cNvPr id="120" name="Text 118"/>
          <p:cNvSpPr/>
          <p:nvPr/>
        </p:nvSpPr>
        <p:spPr>
          <a:xfrm>
            <a:off x="9165002" y="102341"/>
            <a:ext cx="1645570" cy="2931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E659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事件触发式预测修正层</a:t>
            </a:r>
            <a:endParaRPr lang="en-US" sz="1520" dirty="0"/>
          </a:p>
        </p:txBody>
      </p:sp>
      <p:sp>
        <p:nvSpPr>
          <p:cNvPr id="121" name="Text 119"/>
          <p:cNvSpPr/>
          <p:nvPr/>
        </p:nvSpPr>
        <p:spPr>
          <a:xfrm>
            <a:off x="487433" y="553901"/>
            <a:ext cx="707851" cy="4453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历史负荷与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充电行为特征</a:t>
            </a:r>
            <a:endParaRPr lang="en-US" sz="1230" dirty="0"/>
          </a:p>
        </p:txBody>
      </p:sp>
      <p:sp>
        <p:nvSpPr>
          <p:cNvPr id="122" name="Text 120"/>
          <p:cNvSpPr/>
          <p:nvPr/>
        </p:nvSpPr>
        <p:spPr>
          <a:xfrm>
            <a:off x="367786" y="1067415"/>
            <a:ext cx="947143" cy="35972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历史负荷、接入、离站、</a:t>
            </a:r>
            <a:endParaRPr lang="en-US" sz="965" dirty="0"/>
          </a:p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占用、活跃状态</a:t>
            </a:r>
            <a:endParaRPr lang="en-US" sz="965" dirty="0"/>
          </a:p>
        </p:txBody>
      </p:sp>
      <p:sp>
        <p:nvSpPr>
          <p:cNvPr id="123" name="Text 121"/>
          <p:cNvSpPr/>
          <p:nvPr/>
        </p:nvSpPr>
        <p:spPr>
          <a:xfrm>
            <a:off x="307387" y="1781933"/>
            <a:ext cx="1067942" cy="20747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5" i="1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X_b：B×T×F_b</a:t>
            </a:r>
            <a:endParaRPr lang="en-US" sz="995" dirty="0"/>
          </a:p>
        </p:txBody>
      </p:sp>
      <p:sp>
        <p:nvSpPr>
          <p:cNvPr id="124" name="Text 122"/>
          <p:cNvSpPr/>
          <p:nvPr/>
        </p:nvSpPr>
        <p:spPr>
          <a:xfrm>
            <a:off x="487433" y="2375899"/>
            <a:ext cx="707851" cy="4453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事件状态与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因果可用特征</a:t>
            </a:r>
            <a:endParaRPr lang="en-US" sz="1230" dirty="0"/>
          </a:p>
        </p:txBody>
      </p:sp>
      <p:sp>
        <p:nvSpPr>
          <p:cNvPr id="125" name="Text 123"/>
          <p:cNvSpPr/>
          <p:nvPr/>
        </p:nvSpPr>
        <p:spPr>
          <a:xfrm>
            <a:off x="367786" y="2874837"/>
            <a:ext cx="947143" cy="35972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事件近期性、事件类型、</a:t>
            </a:r>
            <a:endParaRPr lang="en-US" sz="965" dirty="0"/>
          </a:p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预测时刻可见状态</a:t>
            </a:r>
            <a:endParaRPr lang="en-US" sz="965" dirty="0"/>
          </a:p>
        </p:txBody>
      </p:sp>
      <p:sp>
        <p:nvSpPr>
          <p:cNvPr id="126" name="Text 124"/>
          <p:cNvSpPr/>
          <p:nvPr/>
        </p:nvSpPr>
        <p:spPr>
          <a:xfrm>
            <a:off x="307387" y="3348851"/>
            <a:ext cx="1067942" cy="20747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5" i="1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X_e：B×T×F_e</a:t>
            </a:r>
            <a:endParaRPr lang="en-US" sz="995" dirty="0"/>
          </a:p>
        </p:txBody>
      </p:sp>
      <p:sp>
        <p:nvSpPr>
          <p:cNvPr id="127" name="Text 125"/>
          <p:cNvSpPr/>
          <p:nvPr/>
        </p:nvSpPr>
        <p:spPr>
          <a:xfrm>
            <a:off x="442161" y="3991943"/>
            <a:ext cx="798394" cy="24553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行为事件图结构</a:t>
            </a:r>
            <a:endParaRPr lang="en-US" sz="1230" dirty="0"/>
          </a:p>
        </p:txBody>
      </p:sp>
      <p:sp>
        <p:nvSpPr>
          <p:cNvPr id="128" name="Text 126"/>
          <p:cNvSpPr/>
          <p:nvPr/>
        </p:nvSpPr>
        <p:spPr>
          <a:xfrm>
            <a:off x="510068" y="4131939"/>
            <a:ext cx="662579" cy="51672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事件邻接图、</a:t>
            </a:r>
            <a:endParaRPr lang="en-US" sz="965" dirty="0"/>
          </a:p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历史相关图、</a:t>
            </a:r>
            <a:endParaRPr lang="en-US" sz="965" dirty="0"/>
          </a:p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动态时间规整图</a:t>
            </a:r>
            <a:endParaRPr lang="en-US" sz="965" dirty="0"/>
          </a:p>
        </p:txBody>
      </p:sp>
      <p:sp>
        <p:nvSpPr>
          <p:cNvPr id="129" name="Text 127"/>
          <p:cNvSpPr/>
          <p:nvPr/>
        </p:nvSpPr>
        <p:spPr>
          <a:xfrm>
            <a:off x="-216685" y="4952210"/>
            <a:ext cx="2116086" cy="20747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5" i="1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A_event / A_hist / A_dtw</a:t>
            </a:r>
            <a:endParaRPr lang="en-US" sz="995" dirty="0"/>
          </a:p>
        </p:txBody>
      </p:sp>
      <p:sp>
        <p:nvSpPr>
          <p:cNvPr id="130" name="Text 128"/>
          <p:cNvSpPr/>
          <p:nvPr/>
        </p:nvSpPr>
        <p:spPr>
          <a:xfrm>
            <a:off x="2032635" y="847725"/>
            <a:ext cx="1017270" cy="2457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时间卷积编码</a:t>
            </a:r>
            <a:endParaRPr lang="en-US" sz="1200" b="1" dirty="0">
              <a:solidFill>
                <a:srgbClr val="1F1F1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31" name="Text 129"/>
          <p:cNvSpPr/>
          <p:nvPr/>
        </p:nvSpPr>
        <p:spPr>
          <a:xfrm>
            <a:off x="2092325" y="1111250"/>
            <a:ext cx="902335" cy="3060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提取短期变化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与行为节律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1849896" y="1578307"/>
            <a:ext cx="242200" cy="21699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</a:t>
            </a:r>
            <a:endParaRPr lang="en-US" sz="1055" dirty="0"/>
          </a:p>
        </p:txBody>
      </p:sp>
      <p:sp>
        <p:nvSpPr>
          <p:cNvPr id="133" name="Text 131"/>
          <p:cNvSpPr/>
          <p:nvPr/>
        </p:nvSpPr>
        <p:spPr>
          <a:xfrm>
            <a:off x="2374726" y="2190935"/>
            <a:ext cx="271163" cy="22650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10" i="1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endParaRPr lang="en-US" sz="1110" dirty="0"/>
          </a:p>
        </p:txBody>
      </p:sp>
      <p:sp>
        <p:nvSpPr>
          <p:cNvPr id="134" name="Text 132"/>
          <p:cNvSpPr/>
          <p:nvPr/>
        </p:nvSpPr>
        <p:spPr>
          <a:xfrm>
            <a:off x="3460750" y="802005"/>
            <a:ext cx="1279525" cy="44513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门控时间卷积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残差时间块</a:t>
            </a:r>
            <a:endParaRPr lang="en-US" sz="1200" dirty="0"/>
          </a:p>
        </p:txBody>
      </p:sp>
      <p:sp>
        <p:nvSpPr>
          <p:cNvPr id="135" name="Text 133"/>
          <p:cNvSpPr/>
          <p:nvPr/>
        </p:nvSpPr>
        <p:spPr>
          <a:xfrm>
            <a:off x="3772130" y="1200043"/>
            <a:ext cx="662579" cy="35972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保留主要趋势，</a:t>
            </a:r>
            <a:endParaRPr lang="en-US" sz="965" dirty="0"/>
          </a:p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抑制短时噪声</a:t>
            </a:r>
            <a:endParaRPr lang="en-US" sz="965" dirty="0"/>
          </a:p>
        </p:txBody>
      </p:sp>
      <p:sp>
        <p:nvSpPr>
          <p:cNvPr id="136" name="Text 134"/>
          <p:cNvSpPr/>
          <p:nvPr/>
        </p:nvSpPr>
        <p:spPr>
          <a:xfrm>
            <a:off x="3867411" y="1610447"/>
            <a:ext cx="449156" cy="20272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卷积变换</a:t>
            </a:r>
            <a:endParaRPr lang="en-US" sz="965" dirty="0"/>
          </a:p>
        </p:txBody>
      </p:sp>
      <p:sp>
        <p:nvSpPr>
          <p:cNvPr id="137" name="Text 135"/>
          <p:cNvSpPr/>
          <p:nvPr/>
        </p:nvSpPr>
        <p:spPr>
          <a:xfrm>
            <a:off x="3867411" y="2018574"/>
            <a:ext cx="449156" cy="20272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门控融合</a:t>
            </a:r>
            <a:endParaRPr lang="en-US" sz="965" dirty="0"/>
          </a:p>
        </p:txBody>
      </p:sp>
      <p:sp>
        <p:nvSpPr>
          <p:cNvPr id="138" name="Text 136"/>
          <p:cNvSpPr/>
          <p:nvPr/>
        </p:nvSpPr>
        <p:spPr>
          <a:xfrm>
            <a:off x="5088890" y="847725"/>
            <a:ext cx="1080135" cy="2457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时间状态表示</a:t>
            </a:r>
            <a:endParaRPr lang="en-US" sz="1200" b="1" dirty="0">
              <a:solidFill>
                <a:srgbClr val="1F1F1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39" name="Text 137"/>
          <p:cNvSpPr/>
          <p:nvPr/>
        </p:nvSpPr>
        <p:spPr>
          <a:xfrm>
            <a:off x="5213985" y="1122680"/>
            <a:ext cx="857885" cy="3206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形成预测时刻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的时序隐状态</a:t>
            </a:r>
            <a:endParaRPr lang="en-US" sz="800" dirty="0">
              <a:solidFill>
                <a:srgbClr val="1F1F1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40" name="Text 138"/>
          <p:cNvSpPr/>
          <p:nvPr/>
        </p:nvSpPr>
        <p:spPr>
          <a:xfrm>
            <a:off x="5241639" y="1942614"/>
            <a:ext cx="745436" cy="20747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H_t：B×d</a:t>
            </a:r>
            <a:endParaRPr lang="en-US" sz="1200" b="1" dirty="0"/>
          </a:p>
        </p:txBody>
      </p:sp>
      <p:sp>
        <p:nvSpPr>
          <p:cNvPr id="141" name="Text 139"/>
          <p:cNvSpPr/>
          <p:nvPr/>
        </p:nvSpPr>
        <p:spPr>
          <a:xfrm>
            <a:off x="6838360" y="801693"/>
            <a:ext cx="526764" cy="4453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行为基线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预测分支</a:t>
            </a:r>
            <a:endParaRPr lang="en-US" sz="1230" dirty="0"/>
          </a:p>
        </p:txBody>
      </p:sp>
      <p:sp>
        <p:nvSpPr>
          <p:cNvPr id="142" name="Text 140"/>
          <p:cNvSpPr/>
          <p:nvPr/>
        </p:nvSpPr>
        <p:spPr>
          <a:xfrm>
            <a:off x="6877165" y="1271479"/>
            <a:ext cx="449156" cy="35972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稳定状态</a:t>
            </a:r>
            <a:endParaRPr lang="en-US" sz="965" dirty="0"/>
          </a:p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默认路径</a:t>
            </a:r>
            <a:endParaRPr lang="en-US" sz="965" dirty="0"/>
          </a:p>
        </p:txBody>
      </p:sp>
      <p:sp>
        <p:nvSpPr>
          <p:cNvPr id="143" name="Text 141"/>
          <p:cNvSpPr/>
          <p:nvPr/>
        </p:nvSpPr>
        <p:spPr>
          <a:xfrm>
            <a:off x="6876049" y="1658912"/>
            <a:ext cx="451387" cy="22650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10" i="1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ŷ_b</a:t>
            </a:r>
            <a:endParaRPr lang="en-US" sz="1110" dirty="0"/>
          </a:p>
        </p:txBody>
      </p:sp>
      <p:sp>
        <p:nvSpPr>
          <p:cNvPr id="144" name="Text 142"/>
          <p:cNvSpPr/>
          <p:nvPr/>
        </p:nvSpPr>
        <p:spPr>
          <a:xfrm>
            <a:off x="6876049" y="2110767"/>
            <a:ext cx="451387" cy="22650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10" i="1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ŷ_b</a:t>
            </a:r>
            <a:endParaRPr lang="en-US" sz="1110" dirty="0"/>
          </a:p>
        </p:txBody>
      </p:sp>
      <p:sp>
        <p:nvSpPr>
          <p:cNvPr id="145" name="Text 143"/>
          <p:cNvSpPr/>
          <p:nvPr/>
        </p:nvSpPr>
        <p:spPr>
          <a:xfrm>
            <a:off x="1997591" y="3991943"/>
            <a:ext cx="617307" cy="24553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图邻居聚合</a:t>
            </a:r>
            <a:endParaRPr lang="en-US" sz="1230" dirty="0"/>
          </a:p>
        </p:txBody>
      </p:sp>
      <p:sp>
        <p:nvSpPr>
          <p:cNvPr id="146" name="Text 144"/>
          <p:cNvSpPr/>
          <p:nvPr/>
        </p:nvSpPr>
        <p:spPr>
          <a:xfrm>
            <a:off x="1939384" y="4201251"/>
            <a:ext cx="733720" cy="35972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基于行为事件关系</a:t>
            </a:r>
            <a:endParaRPr lang="en-US" sz="965" dirty="0"/>
          </a:p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汇聚相邻状态</a:t>
            </a:r>
            <a:endParaRPr lang="en-US" sz="965" dirty="0"/>
          </a:p>
        </p:txBody>
      </p:sp>
      <p:sp>
        <p:nvSpPr>
          <p:cNvPr id="147" name="Text 145"/>
          <p:cNvSpPr/>
          <p:nvPr/>
        </p:nvSpPr>
        <p:spPr>
          <a:xfrm>
            <a:off x="3402629" y="3408904"/>
            <a:ext cx="707851" cy="24553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事件状态融合</a:t>
            </a:r>
            <a:endParaRPr lang="en-US" sz="1230" dirty="0"/>
          </a:p>
        </p:txBody>
      </p:sp>
      <p:sp>
        <p:nvSpPr>
          <p:cNvPr id="148" name="Text 146"/>
          <p:cNvSpPr/>
          <p:nvPr/>
        </p:nvSpPr>
        <p:spPr>
          <a:xfrm>
            <a:off x="3239135" y="3615690"/>
            <a:ext cx="1017905" cy="45148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融合时间状态、</a:t>
            </a:r>
            <a:endParaRPr lang="en-US" sz="965" dirty="0"/>
          </a:p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事件状态与</a:t>
            </a:r>
            <a:endParaRPr lang="en-US" sz="965" dirty="0"/>
          </a:p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图结构信息</a:t>
            </a:r>
            <a:endParaRPr lang="en-US" sz="965" dirty="0"/>
          </a:p>
        </p:txBody>
      </p:sp>
      <p:sp>
        <p:nvSpPr>
          <p:cNvPr id="149" name="Text 147"/>
          <p:cNvSpPr/>
          <p:nvPr/>
        </p:nvSpPr>
        <p:spPr>
          <a:xfrm>
            <a:off x="3353489" y="4154517"/>
            <a:ext cx="804861" cy="20272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时间状态  H_t</a:t>
            </a:r>
            <a:endParaRPr lang="en-US" sz="965" dirty="0"/>
          </a:p>
        </p:txBody>
      </p:sp>
      <p:sp>
        <p:nvSpPr>
          <p:cNvPr id="150" name="Text 148"/>
          <p:cNvSpPr/>
          <p:nvPr/>
        </p:nvSpPr>
        <p:spPr>
          <a:xfrm>
            <a:off x="3353489" y="4548068"/>
            <a:ext cx="804861" cy="20272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事件状态  X_e</a:t>
            </a:r>
            <a:endParaRPr lang="en-US" sz="965" dirty="0"/>
          </a:p>
        </p:txBody>
      </p:sp>
      <p:sp>
        <p:nvSpPr>
          <p:cNvPr id="151" name="Text 149"/>
          <p:cNvSpPr/>
          <p:nvPr/>
        </p:nvSpPr>
        <p:spPr>
          <a:xfrm>
            <a:off x="3460201" y="4941620"/>
            <a:ext cx="591438" cy="20272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图状态  G</a:t>
            </a:r>
            <a:endParaRPr lang="en-US" sz="965" dirty="0"/>
          </a:p>
        </p:txBody>
      </p:sp>
      <p:sp>
        <p:nvSpPr>
          <p:cNvPr id="152" name="Text 150"/>
          <p:cNvSpPr/>
          <p:nvPr/>
        </p:nvSpPr>
        <p:spPr>
          <a:xfrm>
            <a:off x="5653075" y="2942472"/>
            <a:ext cx="798394" cy="24553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图结构预测分支</a:t>
            </a:r>
            <a:endParaRPr lang="en-US" sz="1230" dirty="0"/>
          </a:p>
        </p:txBody>
      </p:sp>
      <p:sp>
        <p:nvSpPr>
          <p:cNvPr id="153" name="Text 151"/>
          <p:cNvSpPr/>
          <p:nvPr/>
        </p:nvSpPr>
        <p:spPr>
          <a:xfrm>
            <a:off x="5167867" y="3170290"/>
            <a:ext cx="617307" cy="4453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事件动态图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预测分支</a:t>
            </a:r>
            <a:endParaRPr lang="en-US" sz="1230" dirty="0"/>
          </a:p>
        </p:txBody>
      </p:sp>
      <p:sp>
        <p:nvSpPr>
          <p:cNvPr id="154" name="Text 152"/>
          <p:cNvSpPr/>
          <p:nvPr/>
        </p:nvSpPr>
        <p:spPr>
          <a:xfrm>
            <a:off x="5145231" y="3716676"/>
            <a:ext cx="662579" cy="20272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输出分支预测值</a:t>
            </a:r>
            <a:endParaRPr lang="en-US" sz="965" dirty="0"/>
          </a:p>
        </p:txBody>
      </p:sp>
      <p:sp>
        <p:nvSpPr>
          <p:cNvPr id="155" name="Text 153"/>
          <p:cNvSpPr/>
          <p:nvPr/>
        </p:nvSpPr>
        <p:spPr>
          <a:xfrm>
            <a:off x="5205771" y="3918189"/>
            <a:ext cx="541499" cy="22650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10" i="1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ŷ_g1</a:t>
            </a:r>
            <a:endParaRPr lang="en-US" sz="1110" dirty="0"/>
          </a:p>
        </p:txBody>
      </p:sp>
      <p:sp>
        <p:nvSpPr>
          <p:cNvPr id="156" name="Text 154"/>
          <p:cNvSpPr/>
          <p:nvPr/>
        </p:nvSpPr>
        <p:spPr>
          <a:xfrm>
            <a:off x="6392249" y="3170290"/>
            <a:ext cx="617307" cy="4453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历史事件图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预测分支</a:t>
            </a:r>
            <a:endParaRPr lang="en-US" sz="1230" dirty="0"/>
          </a:p>
        </p:txBody>
      </p:sp>
      <p:sp>
        <p:nvSpPr>
          <p:cNvPr id="157" name="Text 155"/>
          <p:cNvSpPr/>
          <p:nvPr/>
        </p:nvSpPr>
        <p:spPr>
          <a:xfrm>
            <a:off x="6369614" y="3716676"/>
            <a:ext cx="662579" cy="20272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输出分支预测值</a:t>
            </a:r>
            <a:endParaRPr lang="en-US" sz="965" dirty="0"/>
          </a:p>
        </p:txBody>
      </p:sp>
      <p:sp>
        <p:nvSpPr>
          <p:cNvPr id="158" name="Text 156"/>
          <p:cNvSpPr/>
          <p:nvPr/>
        </p:nvSpPr>
        <p:spPr>
          <a:xfrm>
            <a:off x="6430154" y="3918189"/>
            <a:ext cx="541499" cy="22650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10" i="1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ŷ_g2</a:t>
            </a:r>
            <a:endParaRPr lang="en-US" sz="1110" dirty="0"/>
          </a:p>
        </p:txBody>
      </p:sp>
      <p:sp>
        <p:nvSpPr>
          <p:cNvPr id="159" name="Text 157"/>
          <p:cNvSpPr/>
          <p:nvPr/>
        </p:nvSpPr>
        <p:spPr>
          <a:xfrm>
            <a:off x="5213138" y="4263489"/>
            <a:ext cx="526764" cy="4453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相关性图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预测分支</a:t>
            </a:r>
            <a:endParaRPr lang="en-US" sz="1230" dirty="0"/>
          </a:p>
        </p:txBody>
      </p:sp>
      <p:sp>
        <p:nvSpPr>
          <p:cNvPr id="160" name="Text 158"/>
          <p:cNvSpPr/>
          <p:nvPr/>
        </p:nvSpPr>
        <p:spPr>
          <a:xfrm>
            <a:off x="5145231" y="4809875"/>
            <a:ext cx="662579" cy="20272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输出分支预测值</a:t>
            </a:r>
            <a:endParaRPr lang="en-US" sz="965" dirty="0"/>
          </a:p>
        </p:txBody>
      </p:sp>
      <p:sp>
        <p:nvSpPr>
          <p:cNvPr id="161" name="Text 159"/>
          <p:cNvSpPr/>
          <p:nvPr/>
        </p:nvSpPr>
        <p:spPr>
          <a:xfrm>
            <a:off x="5205771" y="5011388"/>
            <a:ext cx="541499" cy="22650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10" i="1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ŷ_g3</a:t>
            </a:r>
            <a:endParaRPr lang="en-US" sz="1110" dirty="0"/>
          </a:p>
        </p:txBody>
      </p:sp>
      <p:sp>
        <p:nvSpPr>
          <p:cNvPr id="162" name="Text 160"/>
          <p:cNvSpPr/>
          <p:nvPr/>
        </p:nvSpPr>
        <p:spPr>
          <a:xfrm>
            <a:off x="6437521" y="4263489"/>
            <a:ext cx="526764" cy="4453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融合图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预测分支</a:t>
            </a:r>
            <a:endParaRPr lang="en-US" sz="1230" dirty="0"/>
          </a:p>
        </p:txBody>
      </p:sp>
      <p:sp>
        <p:nvSpPr>
          <p:cNvPr id="163" name="Text 161"/>
          <p:cNvSpPr/>
          <p:nvPr/>
        </p:nvSpPr>
        <p:spPr>
          <a:xfrm>
            <a:off x="6369614" y="4809875"/>
            <a:ext cx="662579" cy="20272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输出分支预测值</a:t>
            </a:r>
            <a:endParaRPr lang="en-US" sz="965" dirty="0"/>
          </a:p>
        </p:txBody>
      </p:sp>
      <p:sp>
        <p:nvSpPr>
          <p:cNvPr id="164" name="Text 162"/>
          <p:cNvSpPr/>
          <p:nvPr/>
        </p:nvSpPr>
        <p:spPr>
          <a:xfrm>
            <a:off x="6430154" y="5011388"/>
            <a:ext cx="541499" cy="22650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10" i="1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ŷ_g4</a:t>
            </a:r>
            <a:endParaRPr lang="en-US" sz="1110" dirty="0"/>
          </a:p>
        </p:txBody>
      </p:sp>
      <p:sp>
        <p:nvSpPr>
          <p:cNvPr id="165" name="Text 163"/>
          <p:cNvSpPr/>
          <p:nvPr/>
        </p:nvSpPr>
        <p:spPr>
          <a:xfrm>
            <a:off x="8223079" y="1122364"/>
            <a:ext cx="526764" cy="4453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候选分支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预测结果</a:t>
            </a:r>
            <a:endParaRPr lang="en-US" sz="1230" dirty="0"/>
          </a:p>
        </p:txBody>
      </p:sp>
      <p:sp>
        <p:nvSpPr>
          <p:cNvPr id="166" name="Text 164"/>
          <p:cNvSpPr/>
          <p:nvPr/>
        </p:nvSpPr>
        <p:spPr>
          <a:xfrm>
            <a:off x="8260768" y="1768231"/>
            <a:ext cx="451387" cy="22650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10" i="1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ŷ_b</a:t>
            </a:r>
            <a:endParaRPr lang="en-US" sz="1110" dirty="0"/>
          </a:p>
        </p:txBody>
      </p:sp>
      <p:sp>
        <p:nvSpPr>
          <p:cNvPr id="167" name="Text 165"/>
          <p:cNvSpPr/>
          <p:nvPr/>
        </p:nvSpPr>
        <p:spPr>
          <a:xfrm>
            <a:off x="8215712" y="2190935"/>
            <a:ext cx="541499" cy="22650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10" i="1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ŷ_g1</a:t>
            </a:r>
            <a:endParaRPr lang="en-US" sz="1110" dirty="0"/>
          </a:p>
        </p:txBody>
      </p:sp>
      <p:sp>
        <p:nvSpPr>
          <p:cNvPr id="168" name="Text 166"/>
          <p:cNvSpPr/>
          <p:nvPr/>
        </p:nvSpPr>
        <p:spPr>
          <a:xfrm>
            <a:off x="8215712" y="2613638"/>
            <a:ext cx="541499" cy="22650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10" i="1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ŷ_g2</a:t>
            </a:r>
            <a:endParaRPr lang="en-US" sz="1110" dirty="0"/>
          </a:p>
        </p:txBody>
      </p:sp>
      <p:sp>
        <p:nvSpPr>
          <p:cNvPr id="169" name="Text 167"/>
          <p:cNvSpPr/>
          <p:nvPr/>
        </p:nvSpPr>
        <p:spPr>
          <a:xfrm>
            <a:off x="8215712" y="3036342"/>
            <a:ext cx="541499" cy="22650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10" i="1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ŷ_g3</a:t>
            </a:r>
            <a:endParaRPr lang="en-US" sz="1110" dirty="0"/>
          </a:p>
        </p:txBody>
      </p:sp>
      <p:sp>
        <p:nvSpPr>
          <p:cNvPr id="170" name="Text 168"/>
          <p:cNvSpPr/>
          <p:nvPr/>
        </p:nvSpPr>
        <p:spPr>
          <a:xfrm>
            <a:off x="8215712" y="3459045"/>
            <a:ext cx="541499" cy="22650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10" i="1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ŷ_g4</a:t>
            </a:r>
            <a:endParaRPr lang="en-US" sz="1110" dirty="0"/>
          </a:p>
        </p:txBody>
      </p:sp>
      <p:sp>
        <p:nvSpPr>
          <p:cNvPr id="171" name="Text 169"/>
          <p:cNvSpPr/>
          <p:nvPr/>
        </p:nvSpPr>
        <p:spPr>
          <a:xfrm>
            <a:off x="7710610" y="4004912"/>
            <a:ext cx="1551701" cy="3692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5" i="1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 = [ŷ_b, ŷ_g1,</a:t>
            </a:r>
            <a:endParaRPr lang="en-US" sz="995" dirty="0"/>
          </a:p>
          <a:p>
            <a:pPr marL="0" indent="0" algn="ctr">
              <a:buNone/>
            </a:pPr>
            <a:r>
              <a:rPr lang="en-US" sz="995" i="1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ŷ_g2, ŷ_g3, ŷ_g4]</a:t>
            </a:r>
            <a:endParaRPr lang="en-US" sz="995" dirty="0"/>
          </a:p>
        </p:txBody>
      </p:sp>
      <p:sp>
        <p:nvSpPr>
          <p:cNvPr id="172" name="Text 170"/>
          <p:cNvSpPr/>
          <p:nvPr/>
        </p:nvSpPr>
        <p:spPr>
          <a:xfrm>
            <a:off x="9935454" y="1099765"/>
            <a:ext cx="526764" cy="4453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保守事件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触发判断</a:t>
            </a:r>
            <a:endParaRPr lang="en-US" sz="1230" dirty="0"/>
          </a:p>
        </p:txBody>
      </p:sp>
      <p:sp>
        <p:nvSpPr>
          <p:cNvPr id="173" name="Text 171"/>
          <p:cNvSpPr/>
          <p:nvPr/>
        </p:nvSpPr>
        <p:spPr>
          <a:xfrm>
            <a:off x="9740900" y="1448435"/>
            <a:ext cx="9017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10" i="1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s(x) ≥ τ</a:t>
            </a:r>
            <a:endParaRPr lang="en-US" sz="1110" dirty="0"/>
          </a:p>
        </p:txBody>
      </p:sp>
      <p:sp>
        <p:nvSpPr>
          <p:cNvPr id="174" name="Text 172"/>
          <p:cNvSpPr/>
          <p:nvPr/>
        </p:nvSpPr>
        <p:spPr>
          <a:xfrm>
            <a:off x="9741140" y="1579258"/>
            <a:ext cx="947143" cy="20272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仅使用预测时刻可见信息</a:t>
            </a:r>
            <a:endParaRPr lang="en-US" sz="965" dirty="0"/>
          </a:p>
        </p:txBody>
      </p:sp>
      <p:sp>
        <p:nvSpPr>
          <p:cNvPr id="175" name="Text 173"/>
          <p:cNvSpPr/>
          <p:nvPr/>
        </p:nvSpPr>
        <p:spPr>
          <a:xfrm>
            <a:off x="9254886" y="1865739"/>
            <a:ext cx="707851" cy="4453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2A74C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2A74C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（稳定状态）</a:t>
            </a:r>
            <a:endParaRPr lang="en-US" sz="1230" dirty="0"/>
          </a:p>
        </p:txBody>
      </p:sp>
      <p:sp>
        <p:nvSpPr>
          <p:cNvPr id="176" name="Text 174"/>
          <p:cNvSpPr/>
          <p:nvPr/>
        </p:nvSpPr>
        <p:spPr>
          <a:xfrm>
            <a:off x="10462353" y="1865739"/>
            <a:ext cx="707851" cy="4453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EE7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EE7C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（事件状态）</a:t>
            </a:r>
            <a:endParaRPr lang="en-US" sz="1230" dirty="0"/>
          </a:p>
        </p:txBody>
      </p:sp>
      <p:sp>
        <p:nvSpPr>
          <p:cNvPr id="177" name="Text 175"/>
          <p:cNvSpPr/>
          <p:nvPr/>
        </p:nvSpPr>
        <p:spPr>
          <a:xfrm>
            <a:off x="9408149" y="2688489"/>
            <a:ext cx="526764" cy="4453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回退行为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基线分支</a:t>
            </a:r>
            <a:endParaRPr lang="en-US" sz="1230" dirty="0"/>
          </a:p>
        </p:txBody>
      </p:sp>
      <p:sp>
        <p:nvSpPr>
          <p:cNvPr id="178" name="Text 176"/>
          <p:cNvSpPr/>
          <p:nvPr/>
        </p:nvSpPr>
        <p:spPr>
          <a:xfrm>
            <a:off x="9457114" y="3133637"/>
            <a:ext cx="449156" cy="20272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稳定路径</a:t>
            </a:r>
            <a:endParaRPr lang="en-US" sz="965" dirty="0"/>
          </a:p>
        </p:txBody>
      </p:sp>
      <p:sp>
        <p:nvSpPr>
          <p:cNvPr id="179" name="Text 177"/>
          <p:cNvSpPr/>
          <p:nvPr/>
        </p:nvSpPr>
        <p:spPr>
          <a:xfrm>
            <a:off x="9275774" y="3335150"/>
            <a:ext cx="811835" cy="22650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10" i="1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ŷ_b</a:t>
            </a:r>
            <a:endParaRPr lang="en-US" sz="1110" dirty="0"/>
          </a:p>
        </p:txBody>
      </p:sp>
      <p:sp>
        <p:nvSpPr>
          <p:cNvPr id="180" name="Text 178"/>
          <p:cNvSpPr/>
          <p:nvPr/>
        </p:nvSpPr>
        <p:spPr>
          <a:xfrm>
            <a:off x="10915015" y="2717165"/>
            <a:ext cx="782320" cy="4165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选择事件图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预测分支</a:t>
            </a:r>
            <a:endParaRPr lang="en-US" sz="1230" dirty="0"/>
          </a:p>
        </p:txBody>
      </p:sp>
      <p:sp>
        <p:nvSpPr>
          <p:cNvPr id="181" name="Text 179"/>
          <p:cNvSpPr/>
          <p:nvPr/>
        </p:nvSpPr>
        <p:spPr>
          <a:xfrm>
            <a:off x="11075048" y="3133637"/>
            <a:ext cx="449156" cy="20272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事件路径</a:t>
            </a:r>
            <a:endParaRPr lang="en-US" sz="965" dirty="0"/>
          </a:p>
        </p:txBody>
      </p:sp>
      <p:sp>
        <p:nvSpPr>
          <p:cNvPr id="182" name="Text 180"/>
          <p:cNvSpPr/>
          <p:nvPr/>
        </p:nvSpPr>
        <p:spPr>
          <a:xfrm>
            <a:off x="10848652" y="3335150"/>
            <a:ext cx="901947" cy="22650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10" i="1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ŷ_gj</a:t>
            </a:r>
            <a:endParaRPr lang="en-US" sz="1110" dirty="0"/>
          </a:p>
        </p:txBody>
      </p:sp>
      <p:sp>
        <p:nvSpPr>
          <p:cNvPr id="183" name="Text 181"/>
          <p:cNvSpPr/>
          <p:nvPr/>
        </p:nvSpPr>
        <p:spPr>
          <a:xfrm>
            <a:off x="9594850" y="4035425"/>
            <a:ext cx="1659890" cy="2457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事件触发式预测修正</a:t>
            </a:r>
            <a:endParaRPr lang="en-US" sz="1400" b="1" dirty="0">
              <a:solidFill>
                <a:srgbClr val="1F1F1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84" name="Text 182"/>
          <p:cNvSpPr/>
          <p:nvPr/>
        </p:nvSpPr>
        <p:spPr>
          <a:xfrm>
            <a:off x="9809480" y="4281170"/>
            <a:ext cx="1195070" cy="35941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稳定窗口保持行为预测，</a:t>
            </a:r>
            <a:endParaRPr lang="en-US" sz="965" dirty="0"/>
          </a:p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事件窗口采用图结构修正</a:t>
            </a:r>
            <a:endParaRPr lang="en-US" sz="965" dirty="0"/>
          </a:p>
        </p:txBody>
      </p:sp>
      <p:sp>
        <p:nvSpPr>
          <p:cNvPr id="185" name="Text 183"/>
          <p:cNvSpPr/>
          <p:nvPr/>
        </p:nvSpPr>
        <p:spPr>
          <a:xfrm>
            <a:off x="8963891" y="4660690"/>
            <a:ext cx="2922351" cy="20747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5" i="1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(1 - m)ŷ_b + mŷ_gj,  m ∈ {0,1}</a:t>
            </a:r>
            <a:endParaRPr lang="en-US" sz="995" dirty="0"/>
          </a:p>
        </p:txBody>
      </p:sp>
      <p:sp>
        <p:nvSpPr>
          <p:cNvPr id="186" name="Text 184"/>
          <p:cNvSpPr/>
          <p:nvPr/>
        </p:nvSpPr>
        <p:spPr>
          <a:xfrm>
            <a:off x="9935327" y="5347509"/>
            <a:ext cx="979480" cy="24553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最终充电负荷点预测</a:t>
            </a:r>
            <a:endParaRPr lang="en-US" sz="1230" dirty="0"/>
          </a:p>
        </p:txBody>
      </p:sp>
      <p:sp>
        <p:nvSpPr>
          <p:cNvPr id="187" name="Text 185"/>
          <p:cNvSpPr/>
          <p:nvPr/>
        </p:nvSpPr>
        <p:spPr>
          <a:xfrm>
            <a:off x="9809213" y="5655282"/>
            <a:ext cx="1231707" cy="20272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输出下一时刻或目标预测窗口负荷</a:t>
            </a:r>
            <a:endParaRPr lang="en-US" sz="965" dirty="0"/>
          </a:p>
        </p:txBody>
      </p:sp>
      <p:sp>
        <p:nvSpPr>
          <p:cNvPr id="188" name="Text 186"/>
          <p:cNvSpPr/>
          <p:nvPr/>
        </p:nvSpPr>
        <p:spPr>
          <a:xfrm>
            <a:off x="10289485" y="5900523"/>
            <a:ext cx="271163" cy="22650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10" i="1" dirty="0">
                <a:solidFill>
                  <a:srgbClr val="1F1F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</a:t>
            </a:r>
            <a:endParaRPr lang="en-US" sz="1110" dirty="0"/>
          </a:p>
        </p:txBody>
      </p:sp>
      <p:sp>
        <p:nvSpPr>
          <p:cNvPr id="189" name="Text 187"/>
          <p:cNvSpPr/>
          <p:nvPr/>
        </p:nvSpPr>
        <p:spPr>
          <a:xfrm>
            <a:off x="3956993" y="5603900"/>
            <a:ext cx="1800097" cy="27408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405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后续应用与决策层（可选）</a:t>
            </a:r>
            <a:endParaRPr lang="en-US" sz="1405" dirty="0"/>
          </a:p>
        </p:txBody>
      </p:sp>
      <p:sp>
        <p:nvSpPr>
          <p:cNvPr id="190" name="Text 188"/>
          <p:cNvSpPr/>
          <p:nvPr/>
        </p:nvSpPr>
        <p:spPr>
          <a:xfrm>
            <a:off x="2271154" y="5924938"/>
            <a:ext cx="449156" cy="20272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区间校准</a:t>
            </a:r>
            <a:endParaRPr lang="en-US" sz="965" dirty="0"/>
          </a:p>
        </p:txBody>
      </p:sp>
      <p:sp>
        <p:nvSpPr>
          <p:cNvPr id="191" name="Text 189"/>
          <p:cNvSpPr/>
          <p:nvPr/>
        </p:nvSpPr>
        <p:spPr>
          <a:xfrm>
            <a:off x="4189635" y="5924938"/>
            <a:ext cx="591438" cy="20272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容量风险代理</a:t>
            </a:r>
            <a:endParaRPr lang="en-US" sz="965" dirty="0"/>
          </a:p>
        </p:txBody>
      </p:sp>
      <p:sp>
        <p:nvSpPr>
          <p:cNvPr id="192" name="Text 190"/>
          <p:cNvSpPr/>
          <p:nvPr/>
        </p:nvSpPr>
        <p:spPr>
          <a:xfrm>
            <a:off x="6137267" y="5924938"/>
            <a:ext cx="733720" cy="20272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ctr">
              <a:buNone/>
            </a:pPr>
            <a:r>
              <a:rPr lang="en-US" sz="965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稳健性与降级决策</a:t>
            </a:r>
            <a:endParaRPr lang="en-US" sz="965" dirty="0"/>
          </a:p>
        </p:txBody>
      </p:sp>
      <p:sp>
        <p:nvSpPr>
          <p:cNvPr id="193" name="Text 191"/>
          <p:cNvSpPr/>
          <p:nvPr/>
        </p:nvSpPr>
        <p:spPr>
          <a:xfrm>
            <a:off x="775766" y="6435097"/>
            <a:ext cx="520297" cy="20272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l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主要信息流</a:t>
            </a:r>
            <a:endParaRPr lang="en-US" sz="965" dirty="0"/>
          </a:p>
        </p:txBody>
      </p:sp>
      <p:sp>
        <p:nvSpPr>
          <p:cNvPr id="194" name="Text 192"/>
          <p:cNvSpPr/>
          <p:nvPr/>
        </p:nvSpPr>
        <p:spPr>
          <a:xfrm>
            <a:off x="1927269" y="6435097"/>
            <a:ext cx="520297" cy="20272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l">
              <a:buNone/>
            </a:pPr>
            <a:r>
              <a:rPr lang="en-US" sz="965" dirty="0">
                <a:solidFill>
                  <a:srgbClr val="1F1F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辅助信息流</a:t>
            </a:r>
            <a:endParaRPr lang="en-US" sz="965" dirty="0"/>
          </a:p>
        </p:txBody>
      </p:sp>
      <p:sp>
        <p:nvSpPr>
          <p:cNvPr id="195" name="Text 193"/>
          <p:cNvSpPr/>
          <p:nvPr/>
        </p:nvSpPr>
        <p:spPr>
          <a:xfrm>
            <a:off x="3239107" y="6431235"/>
            <a:ext cx="716474" cy="1979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l">
              <a:buNone/>
            </a:pPr>
            <a:r>
              <a:rPr lang="en-US" sz="935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时间特征相关模块</a:t>
            </a:r>
            <a:endParaRPr lang="en-US" sz="935" dirty="0"/>
          </a:p>
        </p:txBody>
      </p:sp>
      <p:sp>
        <p:nvSpPr>
          <p:cNvPr id="196" name="Text 194"/>
          <p:cNvSpPr/>
          <p:nvPr/>
        </p:nvSpPr>
        <p:spPr>
          <a:xfrm>
            <a:off x="4842465" y="6431235"/>
            <a:ext cx="647488" cy="1979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l">
              <a:buNone/>
            </a:pPr>
            <a:r>
              <a:rPr lang="en-US" sz="935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图结构相关模块</a:t>
            </a:r>
            <a:endParaRPr lang="en-US" sz="935" dirty="0"/>
          </a:p>
        </p:txBody>
      </p:sp>
      <p:sp>
        <p:nvSpPr>
          <p:cNvPr id="197" name="Text 195"/>
          <p:cNvSpPr/>
          <p:nvPr/>
        </p:nvSpPr>
        <p:spPr>
          <a:xfrm>
            <a:off x="6460399" y="6431235"/>
            <a:ext cx="647488" cy="1979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l">
              <a:buNone/>
            </a:pPr>
            <a:r>
              <a:rPr lang="en-US" sz="935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决策与修正模块</a:t>
            </a:r>
            <a:endParaRPr lang="en-US" sz="935" dirty="0"/>
          </a:p>
        </p:txBody>
      </p:sp>
      <p:sp>
        <p:nvSpPr>
          <p:cNvPr id="198" name="Text 196"/>
          <p:cNvSpPr/>
          <p:nvPr/>
        </p:nvSpPr>
        <p:spPr>
          <a:xfrm>
            <a:off x="8005454" y="6431235"/>
            <a:ext cx="578503" cy="1979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l">
              <a:buNone/>
            </a:pPr>
            <a:r>
              <a:rPr lang="en-US" sz="935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后续应用模块</a:t>
            </a:r>
            <a:endParaRPr lang="en-US" sz="935" dirty="0"/>
          </a:p>
        </p:txBody>
      </p:sp>
      <p:sp>
        <p:nvSpPr>
          <p:cNvPr id="199" name="Shape 75"/>
          <p:cNvSpPr/>
          <p:nvPr/>
        </p:nvSpPr>
        <p:spPr>
          <a:xfrm>
            <a:off x="4813300" y="1341120"/>
            <a:ext cx="146050" cy="1270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00" name="Shape 76"/>
          <p:cNvSpPr/>
          <p:nvPr/>
        </p:nvSpPr>
        <p:spPr>
          <a:xfrm>
            <a:off x="4885690" y="1470660"/>
            <a:ext cx="1270" cy="935355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</a:ln>
        </p:spPr>
      </p:sp>
      <p:sp>
        <p:nvSpPr>
          <p:cNvPr id="201" name="Shape 87"/>
          <p:cNvSpPr/>
          <p:nvPr/>
        </p:nvSpPr>
        <p:spPr>
          <a:xfrm>
            <a:off x="850265" y="3789680"/>
            <a:ext cx="2161540" cy="635"/>
          </a:xfrm>
          <a:prstGeom prst="line">
            <a:avLst/>
          </a:prstGeom>
          <a:noFill/>
          <a:ln w="6294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1182</Words>
  <Application>WPS 演示</Application>
  <PresentationFormat>On-screen Show (16:9)</PresentationFormat>
  <Paragraphs>299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Cambria Math</vt:lpstr>
      <vt:lpstr>Cambria Math</vt:lpstr>
      <vt:lpstr>Cambria Math</vt:lpstr>
      <vt:lpstr>微软雅黑</vt:lpstr>
      <vt:lpstr>Kingsoft Math</vt:lpstr>
      <vt:lpstr>汉仪书宋二KW</vt:lpstr>
      <vt:lpstr>宋体</vt:lpstr>
      <vt:lpstr>Arial Unicode MS</vt:lpstr>
      <vt:lpstr>Calibri</vt:lpstr>
      <vt:lpstr>Helvetica Neue</vt:lpstr>
      <vt:lpstr>等线</vt:lpstr>
      <vt:lpstr>汉仪中等线KW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论文图 终稿 SVG 转 PPT 可编辑版</dc:title>
  <dc:creator>Codex</dc:creator>
  <dc:subject>Editable PPT converted from final SVG thesis figures</dc:subject>
  <cp:lastModifiedBy>时崎小三</cp:lastModifiedBy>
  <cp:revision>6</cp:revision>
  <dcterms:created xsi:type="dcterms:W3CDTF">2026-06-29T06:15:12Z</dcterms:created>
  <dcterms:modified xsi:type="dcterms:W3CDTF">2026-06-29T06:15:12Z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E38E3062EDC3A8BF6BFB416A86EB2BED_42</vt:lpwstr>
  </property>
</Properties>
</file>